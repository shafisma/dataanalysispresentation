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14630400" cy="8229600"/>
  <p:notesSz cx="8229600" cy="14630400"/>
  <p:embeddedFontLst>
    <p:embeddedFont>
      <p:font typeface="Overpass Light" pitchFamily="2" charset="0"/>
      <p:regular r:id="rId12"/>
      <p:italic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9017CC-26F1-45E9-B184-C17D842010C4}" v="3" dt="2025-09-13T13:53:43.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fi uzzaman" userId="b58d54d27cf4cadd" providerId="LiveId" clId="{656882EA-F861-461A-81E7-92056B5AA9D5}"/>
    <pc:docChg chg="undo custSel delSld modSld">
      <pc:chgData name="shafi uzzaman" userId="b58d54d27cf4cadd" providerId="LiveId" clId="{656882EA-F861-461A-81E7-92056B5AA9D5}" dt="2025-09-13T13:54:47.943" v="152" actId="122"/>
      <pc:docMkLst>
        <pc:docMk/>
      </pc:docMkLst>
      <pc:sldChg chg="modSp mod">
        <pc:chgData name="shafi uzzaman" userId="b58d54d27cf4cadd" providerId="LiveId" clId="{656882EA-F861-461A-81E7-92056B5AA9D5}" dt="2025-09-13T13:54:47.943" v="152" actId="122"/>
        <pc:sldMkLst>
          <pc:docMk/>
          <pc:sldMk cId="0" sldId="256"/>
        </pc:sldMkLst>
        <pc:spChg chg="mod">
          <ac:chgData name="shafi uzzaman" userId="b58d54d27cf4cadd" providerId="LiveId" clId="{656882EA-F861-461A-81E7-92056B5AA9D5}" dt="2025-09-13T13:54:47.943" v="152" actId="122"/>
          <ac:spMkLst>
            <pc:docMk/>
            <pc:sldMk cId="0" sldId="256"/>
            <ac:spMk id="2" creationId="{00000000-0000-0000-0000-000000000000}"/>
          </ac:spMkLst>
        </pc:spChg>
      </pc:sldChg>
      <pc:sldChg chg="delSp modSp mod">
        <pc:chgData name="shafi uzzaman" userId="b58d54d27cf4cadd" providerId="LiveId" clId="{656882EA-F861-461A-81E7-92056B5AA9D5}" dt="2025-09-13T13:48:22.154" v="78" actId="478"/>
        <pc:sldMkLst>
          <pc:docMk/>
          <pc:sldMk cId="0" sldId="258"/>
        </pc:sldMkLst>
        <pc:spChg chg="del">
          <ac:chgData name="shafi uzzaman" userId="b58d54d27cf4cadd" providerId="LiveId" clId="{656882EA-F861-461A-81E7-92056B5AA9D5}" dt="2025-09-13T13:48:22.154" v="78" actId="478"/>
          <ac:spMkLst>
            <pc:docMk/>
            <pc:sldMk cId="0" sldId="258"/>
            <ac:spMk id="2" creationId="{00000000-0000-0000-0000-000000000000}"/>
          </ac:spMkLst>
        </pc:spChg>
        <pc:spChg chg="mod">
          <ac:chgData name="shafi uzzaman" userId="b58d54d27cf4cadd" providerId="LiveId" clId="{656882EA-F861-461A-81E7-92056B5AA9D5}" dt="2025-09-13T13:48:12.909" v="77" actId="6549"/>
          <ac:spMkLst>
            <pc:docMk/>
            <pc:sldMk cId="0" sldId="258"/>
            <ac:spMk id="3" creationId="{00000000-0000-0000-0000-000000000000}"/>
          </ac:spMkLst>
        </pc:spChg>
      </pc:sldChg>
      <pc:sldChg chg="modSp mod">
        <pc:chgData name="shafi uzzaman" userId="b58d54d27cf4cadd" providerId="LiveId" clId="{656882EA-F861-461A-81E7-92056B5AA9D5}" dt="2025-09-13T13:48:39.320" v="88" actId="20577"/>
        <pc:sldMkLst>
          <pc:docMk/>
          <pc:sldMk cId="0" sldId="259"/>
        </pc:sldMkLst>
        <pc:spChg chg="mod">
          <ac:chgData name="shafi uzzaman" userId="b58d54d27cf4cadd" providerId="LiveId" clId="{656882EA-F861-461A-81E7-92056B5AA9D5}" dt="2025-09-13T13:48:39.320" v="88" actId="20577"/>
          <ac:spMkLst>
            <pc:docMk/>
            <pc:sldMk cId="0" sldId="259"/>
            <ac:spMk id="2" creationId="{00000000-0000-0000-0000-000000000000}"/>
          </ac:spMkLst>
        </pc:spChg>
        <pc:spChg chg="mod">
          <ac:chgData name="shafi uzzaman" userId="b58d54d27cf4cadd" providerId="LiveId" clId="{656882EA-F861-461A-81E7-92056B5AA9D5}" dt="2025-09-13T13:48:35.805" v="80" actId="14100"/>
          <ac:spMkLst>
            <pc:docMk/>
            <pc:sldMk cId="0" sldId="259"/>
            <ac:spMk id="3" creationId="{00000000-0000-0000-0000-000000000000}"/>
          </ac:spMkLst>
        </pc:spChg>
      </pc:sldChg>
      <pc:sldChg chg="del">
        <pc:chgData name="shafi uzzaman" userId="b58d54d27cf4cadd" providerId="LiveId" clId="{656882EA-F861-461A-81E7-92056B5AA9D5}" dt="2025-09-13T13:48:54.602" v="89" actId="2696"/>
        <pc:sldMkLst>
          <pc:docMk/>
          <pc:sldMk cId="0" sldId="261"/>
        </pc:sldMkLst>
      </pc:sldChg>
      <pc:sldChg chg="delSp modSp mod">
        <pc:chgData name="shafi uzzaman" userId="b58d54d27cf4cadd" providerId="LiveId" clId="{656882EA-F861-461A-81E7-92056B5AA9D5}" dt="2025-09-13T13:49:26.854" v="93" actId="478"/>
        <pc:sldMkLst>
          <pc:docMk/>
          <pc:sldMk cId="0" sldId="262"/>
        </pc:sldMkLst>
        <pc:spChg chg="del">
          <ac:chgData name="shafi uzzaman" userId="b58d54d27cf4cadd" providerId="LiveId" clId="{656882EA-F861-461A-81E7-92056B5AA9D5}" dt="2025-09-13T13:49:26.854" v="93" actId="478"/>
          <ac:spMkLst>
            <pc:docMk/>
            <pc:sldMk cId="0" sldId="262"/>
            <ac:spMk id="2" creationId="{00000000-0000-0000-0000-000000000000}"/>
          </ac:spMkLst>
        </pc:spChg>
        <pc:spChg chg="mod">
          <ac:chgData name="shafi uzzaman" userId="b58d54d27cf4cadd" providerId="LiveId" clId="{656882EA-F861-461A-81E7-92056B5AA9D5}" dt="2025-09-13T13:49:07.251" v="91" actId="14100"/>
          <ac:spMkLst>
            <pc:docMk/>
            <pc:sldMk cId="0" sldId="262"/>
            <ac:spMk id="3" creationId="{00000000-0000-0000-0000-000000000000}"/>
          </ac:spMkLst>
        </pc:spChg>
      </pc:sldChg>
      <pc:sldChg chg="delSp mod">
        <pc:chgData name="shafi uzzaman" userId="b58d54d27cf4cadd" providerId="LiveId" clId="{656882EA-F861-461A-81E7-92056B5AA9D5}" dt="2025-09-13T13:49:19.885" v="92" actId="478"/>
        <pc:sldMkLst>
          <pc:docMk/>
          <pc:sldMk cId="0" sldId="263"/>
        </pc:sldMkLst>
        <pc:spChg chg="del">
          <ac:chgData name="shafi uzzaman" userId="b58d54d27cf4cadd" providerId="LiveId" clId="{656882EA-F861-461A-81E7-92056B5AA9D5}" dt="2025-09-13T13:49:19.885" v="92" actId="478"/>
          <ac:spMkLst>
            <pc:docMk/>
            <pc:sldMk cId="0" sldId="263"/>
            <ac:spMk id="2" creationId="{00000000-0000-0000-0000-000000000000}"/>
          </ac:spMkLst>
        </pc:spChg>
      </pc:sldChg>
      <pc:sldChg chg="addSp delSp modSp mod">
        <pc:chgData name="shafi uzzaman" userId="b58d54d27cf4cadd" providerId="LiveId" clId="{656882EA-F861-461A-81E7-92056B5AA9D5}" dt="2025-09-13T13:54:38.538" v="151" actId="1076"/>
        <pc:sldMkLst>
          <pc:docMk/>
          <pc:sldMk cId="0" sldId="265"/>
        </pc:sldMkLst>
        <pc:spChg chg="mod">
          <ac:chgData name="shafi uzzaman" userId="b58d54d27cf4cadd" providerId="LiveId" clId="{656882EA-F861-461A-81E7-92056B5AA9D5}" dt="2025-09-13T13:49:52.288" v="97" actId="1076"/>
          <ac:spMkLst>
            <pc:docMk/>
            <pc:sldMk cId="0" sldId="265"/>
            <ac:spMk id="5" creationId="{00000000-0000-0000-0000-000000000000}"/>
          </ac:spMkLst>
        </pc:spChg>
        <pc:spChg chg="add del mod">
          <ac:chgData name="shafi uzzaman" userId="b58d54d27cf4cadd" providerId="LiveId" clId="{656882EA-F861-461A-81E7-92056B5AA9D5}" dt="2025-09-13T13:49:47.338" v="95" actId="478"/>
          <ac:spMkLst>
            <pc:docMk/>
            <pc:sldMk cId="0" sldId="265"/>
            <ac:spMk id="6" creationId="{BDB89413-2DE9-4D68-68AE-824ABCE7A3D8}"/>
          </ac:spMkLst>
        </pc:spChg>
        <pc:spChg chg="add mod">
          <ac:chgData name="shafi uzzaman" userId="b58d54d27cf4cadd" providerId="LiveId" clId="{656882EA-F861-461A-81E7-92056B5AA9D5}" dt="2025-09-13T13:54:38.538" v="151" actId="1076"/>
          <ac:spMkLst>
            <pc:docMk/>
            <pc:sldMk cId="0" sldId="265"/>
            <ac:spMk id="7" creationId="{B6F28AD2-69C4-26AF-799D-71F6ECA1F6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55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028355"/>
            <a:ext cx="13042821" cy="1240155"/>
          </a:xfrm>
          <a:prstGeom prst="rect">
            <a:avLst/>
          </a:prstGeom>
          <a:noFill/>
          <a:ln/>
        </p:spPr>
        <p:txBody>
          <a:bodyPr wrap="square" lIns="0" tIns="0" rIns="0" bIns="0" rtlCol="0" anchor="t"/>
          <a:lstStyle/>
          <a:p>
            <a:pPr marL="0" indent="0" algn="ctr">
              <a:lnSpc>
                <a:spcPts val="4850"/>
              </a:lnSpc>
              <a:buNone/>
            </a:pPr>
            <a:r>
              <a:rPr lang="en-US" sz="3900" b="1" dirty="0">
                <a:solidFill>
                  <a:srgbClr val="233939"/>
                </a:solidFill>
                <a:latin typeface="Syne Bold" pitchFamily="34" charset="0"/>
                <a:ea typeface="Syne Bold" pitchFamily="34" charset="-122"/>
                <a:cs typeface="Syne Bold" pitchFamily="34" charset="-120"/>
              </a:rPr>
              <a:t>Robotics and Animatronics: Bringing Machines to Life</a:t>
            </a:r>
            <a:endParaRPr lang="en-US" sz="3900" dirty="0"/>
          </a:p>
        </p:txBody>
      </p:sp>
      <p:sp>
        <p:nvSpPr>
          <p:cNvPr id="3" name="Text 1"/>
          <p:cNvSpPr/>
          <p:nvPr/>
        </p:nvSpPr>
        <p:spPr>
          <a:xfrm>
            <a:off x="793790" y="45661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Explore the fascinating world where engineering meets artistry, as we delve into how robotics and animatronics create immersive experiences and solve complex problems.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7661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Introduction</a:t>
            </a:r>
            <a:endParaRPr lang="en-US" sz="1950" dirty="0"/>
          </a:p>
        </p:txBody>
      </p:sp>
      <p:sp>
        <p:nvSpPr>
          <p:cNvPr id="3" name="Text 1"/>
          <p:cNvSpPr/>
          <p:nvPr/>
        </p:nvSpPr>
        <p:spPr>
          <a:xfrm>
            <a:off x="793790" y="1985129"/>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What Are Robotics and Animatronics?</a:t>
            </a:r>
            <a:endParaRPr lang="en-US" sz="5350" dirty="0"/>
          </a:p>
        </p:txBody>
      </p:sp>
      <p:sp>
        <p:nvSpPr>
          <p:cNvPr id="4" name="Text 2"/>
          <p:cNvSpPr/>
          <p:nvPr/>
        </p:nvSpPr>
        <p:spPr>
          <a:xfrm>
            <a:off x="793790" y="4173022"/>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Robotics</a:t>
            </a:r>
            <a:r>
              <a:rPr lang="en-US" sz="1550" dirty="0">
                <a:solidFill>
                  <a:srgbClr val="3B4E4E"/>
                </a:solidFill>
                <a:latin typeface="Overpass Light" pitchFamily="34" charset="0"/>
                <a:ea typeface="Overpass Light" pitchFamily="34" charset="-122"/>
                <a:cs typeface="Overpass Light" pitchFamily="34" charset="-120"/>
              </a:rPr>
              <a:t> involves the design, construction, operation, and use of programmable machines to perform tasks autonomously or semi-autonomously. These machines, or robots, are found in diverse fields from manufacturing to space exploration, optimizing processes and executing tasks beyond human capability.</a:t>
            </a:r>
            <a:endParaRPr lang="en-US" sz="1550" dirty="0"/>
          </a:p>
        </p:txBody>
      </p:sp>
      <p:sp>
        <p:nvSpPr>
          <p:cNvPr id="5" name="Text 3"/>
          <p:cNvSpPr/>
          <p:nvPr/>
        </p:nvSpPr>
        <p:spPr>
          <a:xfrm>
            <a:off x="793790" y="5939314"/>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Robotics focuses on functionality, efficiency, and problem-solving through automation.</a:t>
            </a:r>
            <a:endParaRPr lang="en-US" sz="1550" dirty="0"/>
          </a:p>
        </p:txBody>
      </p:sp>
      <p:sp>
        <p:nvSpPr>
          <p:cNvPr id="6" name="Text 4"/>
          <p:cNvSpPr/>
          <p:nvPr/>
        </p:nvSpPr>
        <p:spPr>
          <a:xfrm>
            <a:off x="7564874" y="4173022"/>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Animatronics</a:t>
            </a:r>
            <a:r>
              <a:rPr lang="en-US" sz="1550" dirty="0">
                <a:solidFill>
                  <a:srgbClr val="3B4E4E"/>
                </a:solidFill>
                <a:latin typeface="Overpass Light" pitchFamily="34" charset="0"/>
                <a:ea typeface="Overpass Light" pitchFamily="34" charset="-122"/>
                <a:cs typeface="Overpass Light" pitchFamily="34" charset="-120"/>
              </a:rPr>
              <a:t> is a specialized branch that combines robotics, mechatronics, and puppetry to create lifelike animated figures. The term itself gained prominence with Walt Disney's pioneering "Audio-Animatronics" technology in the 1960s, revolutionizing how characters could interact within immersive environments.</a:t>
            </a:r>
            <a:endParaRPr lang="en-US" sz="1550" dirty="0"/>
          </a:p>
        </p:txBody>
      </p:sp>
      <p:sp>
        <p:nvSpPr>
          <p:cNvPr id="7" name="Text 5"/>
          <p:cNvSpPr/>
          <p:nvPr/>
        </p:nvSpPr>
        <p:spPr>
          <a:xfrm>
            <a:off x="7564874" y="5939314"/>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Animatronics emphasizes realistic appearance and movement, often used for storytelling and entertainment.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793790" y="1185386"/>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The History of Robotics and Animatronics</a:t>
            </a:r>
            <a:endParaRPr lang="en-US" sz="5350" dirty="0"/>
          </a:p>
        </p:txBody>
      </p:sp>
      <p:sp>
        <p:nvSpPr>
          <p:cNvPr id="4" name="Shape 2"/>
          <p:cNvSpPr/>
          <p:nvPr/>
        </p:nvSpPr>
        <p:spPr>
          <a:xfrm>
            <a:off x="7303770" y="3194685"/>
            <a:ext cx="22860" cy="4358045"/>
          </a:xfrm>
          <a:prstGeom prst="roundRect">
            <a:avLst>
              <a:gd name="adj" fmla="val 364651"/>
            </a:avLst>
          </a:prstGeom>
          <a:solidFill>
            <a:srgbClr val="C3D4CC"/>
          </a:solidFill>
          <a:ln/>
        </p:spPr>
        <p:txBody>
          <a:bodyPr/>
          <a:lstStyle/>
          <a:p>
            <a:endParaRPr lang="en-US"/>
          </a:p>
        </p:txBody>
      </p:sp>
      <p:sp>
        <p:nvSpPr>
          <p:cNvPr id="5" name="Shape 3"/>
          <p:cNvSpPr/>
          <p:nvPr/>
        </p:nvSpPr>
        <p:spPr>
          <a:xfrm>
            <a:off x="6519505" y="3406497"/>
            <a:ext cx="595313" cy="22860"/>
          </a:xfrm>
          <a:prstGeom prst="roundRect">
            <a:avLst>
              <a:gd name="adj" fmla="val 364651"/>
            </a:avLst>
          </a:prstGeom>
          <a:solidFill>
            <a:srgbClr val="C3D4CC"/>
          </a:solidFill>
          <a:ln/>
        </p:spPr>
        <p:txBody>
          <a:bodyPr/>
          <a:lstStyle/>
          <a:p>
            <a:endParaRPr lang="en-US"/>
          </a:p>
        </p:txBody>
      </p:sp>
      <p:sp>
        <p:nvSpPr>
          <p:cNvPr id="6" name="Shape 4"/>
          <p:cNvSpPr/>
          <p:nvPr/>
        </p:nvSpPr>
        <p:spPr>
          <a:xfrm>
            <a:off x="7091958" y="3194685"/>
            <a:ext cx="446484" cy="446484"/>
          </a:xfrm>
          <a:prstGeom prst="roundRect">
            <a:avLst>
              <a:gd name="adj" fmla="val 18670"/>
            </a:avLst>
          </a:prstGeom>
          <a:solidFill>
            <a:srgbClr val="DDEEE6"/>
          </a:solidFill>
          <a:ln w="7620">
            <a:solidFill>
              <a:srgbClr val="C3D4CC"/>
            </a:solidFill>
            <a:prstDash val="solid"/>
          </a:ln>
        </p:spPr>
        <p:txBody>
          <a:bodyPr/>
          <a:lstStyle/>
          <a:p>
            <a:endParaRPr lang="en-US"/>
          </a:p>
        </p:txBody>
      </p:sp>
      <p:sp>
        <p:nvSpPr>
          <p:cNvPr id="7" name="Text 5"/>
          <p:cNvSpPr/>
          <p:nvPr/>
        </p:nvSpPr>
        <p:spPr>
          <a:xfrm>
            <a:off x="7166372" y="3231892"/>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3B4E4E"/>
                </a:solidFill>
                <a:latin typeface="Syne Bold" pitchFamily="34" charset="0"/>
                <a:ea typeface="Syne Bold" pitchFamily="34" charset="-122"/>
                <a:cs typeface="Syne Bold" pitchFamily="34" charset="-120"/>
              </a:rPr>
              <a:t>1</a:t>
            </a:r>
            <a:endParaRPr lang="en-US" sz="2300" dirty="0"/>
          </a:p>
        </p:txBody>
      </p:sp>
      <p:sp>
        <p:nvSpPr>
          <p:cNvPr id="8" name="Text 6"/>
          <p:cNvSpPr/>
          <p:nvPr/>
        </p:nvSpPr>
        <p:spPr>
          <a:xfrm>
            <a:off x="3842028" y="3262908"/>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17th Century</a:t>
            </a:r>
            <a:endParaRPr lang="en-US" sz="1950" dirty="0"/>
          </a:p>
        </p:txBody>
      </p:sp>
      <p:sp>
        <p:nvSpPr>
          <p:cNvPr id="9" name="Text 7"/>
          <p:cNvSpPr/>
          <p:nvPr/>
        </p:nvSpPr>
        <p:spPr>
          <a:xfrm>
            <a:off x="793790" y="3692128"/>
            <a:ext cx="552914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German clockmakers created intricate mechanical figures, precursors to modern animatronics, often appearing in cuckoo clocks and elaborate automata designed for entertainment and novelty.</a:t>
            </a:r>
            <a:endParaRPr lang="en-US" sz="1550" dirty="0"/>
          </a:p>
        </p:txBody>
      </p:sp>
      <p:sp>
        <p:nvSpPr>
          <p:cNvPr id="10" name="Shape 8"/>
          <p:cNvSpPr/>
          <p:nvPr/>
        </p:nvSpPr>
        <p:spPr>
          <a:xfrm>
            <a:off x="7515582" y="4597122"/>
            <a:ext cx="595313" cy="22860"/>
          </a:xfrm>
          <a:prstGeom prst="roundRect">
            <a:avLst>
              <a:gd name="adj" fmla="val 364651"/>
            </a:avLst>
          </a:prstGeom>
          <a:solidFill>
            <a:srgbClr val="C3D4CC"/>
          </a:solidFill>
          <a:ln/>
        </p:spPr>
        <p:txBody>
          <a:bodyPr/>
          <a:lstStyle/>
          <a:p>
            <a:endParaRPr lang="en-US"/>
          </a:p>
        </p:txBody>
      </p:sp>
      <p:sp>
        <p:nvSpPr>
          <p:cNvPr id="11" name="Shape 9"/>
          <p:cNvSpPr/>
          <p:nvPr/>
        </p:nvSpPr>
        <p:spPr>
          <a:xfrm>
            <a:off x="7091958" y="4385310"/>
            <a:ext cx="446484" cy="446484"/>
          </a:xfrm>
          <a:prstGeom prst="roundRect">
            <a:avLst>
              <a:gd name="adj" fmla="val 18670"/>
            </a:avLst>
          </a:prstGeom>
          <a:solidFill>
            <a:srgbClr val="DDEEE6"/>
          </a:solidFill>
          <a:ln w="7620">
            <a:solidFill>
              <a:srgbClr val="C3D4CC"/>
            </a:solidFill>
            <a:prstDash val="solid"/>
          </a:ln>
        </p:spPr>
        <p:txBody>
          <a:bodyPr/>
          <a:lstStyle/>
          <a:p>
            <a:endParaRPr lang="en-US"/>
          </a:p>
        </p:txBody>
      </p:sp>
      <p:sp>
        <p:nvSpPr>
          <p:cNvPr id="12" name="Text 10"/>
          <p:cNvSpPr/>
          <p:nvPr/>
        </p:nvSpPr>
        <p:spPr>
          <a:xfrm>
            <a:off x="7166372" y="4422517"/>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3B4E4E"/>
                </a:solidFill>
                <a:latin typeface="Syne Bold" pitchFamily="34" charset="0"/>
                <a:ea typeface="Syne Bold" pitchFamily="34" charset="-122"/>
                <a:cs typeface="Syne Bold" pitchFamily="34" charset="-120"/>
              </a:rPr>
              <a:t>2</a:t>
            </a:r>
            <a:endParaRPr lang="en-US" sz="2300" dirty="0"/>
          </a:p>
        </p:txBody>
      </p:sp>
      <p:sp>
        <p:nvSpPr>
          <p:cNvPr id="13" name="Text 11"/>
          <p:cNvSpPr/>
          <p:nvPr/>
        </p:nvSpPr>
        <p:spPr>
          <a:xfrm>
            <a:off x="8307467" y="44535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1963</a:t>
            </a:r>
            <a:endParaRPr lang="en-US" sz="1950" dirty="0"/>
          </a:p>
        </p:txBody>
      </p:sp>
      <p:sp>
        <p:nvSpPr>
          <p:cNvPr id="14" name="Text 12"/>
          <p:cNvSpPr/>
          <p:nvPr/>
        </p:nvSpPr>
        <p:spPr>
          <a:xfrm>
            <a:off x="8307467" y="4882753"/>
            <a:ext cx="5529143" cy="1587698"/>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Walt Disney’s Enchanted Tiki Room opened, debuting the first Audio-Animatronics. This groundbreaking attraction featured singing birds, flowers, and tikis, synchronized to music and dialogue, setting a new standard for theme park entertainment.</a:t>
            </a:r>
            <a:endParaRPr lang="en-US" sz="1550" dirty="0"/>
          </a:p>
        </p:txBody>
      </p:sp>
      <p:sp>
        <p:nvSpPr>
          <p:cNvPr id="15" name="Shape 13"/>
          <p:cNvSpPr/>
          <p:nvPr/>
        </p:nvSpPr>
        <p:spPr>
          <a:xfrm>
            <a:off x="6519505" y="5838111"/>
            <a:ext cx="595313" cy="22860"/>
          </a:xfrm>
          <a:prstGeom prst="roundRect">
            <a:avLst>
              <a:gd name="adj" fmla="val 364651"/>
            </a:avLst>
          </a:prstGeom>
          <a:solidFill>
            <a:srgbClr val="C3D4CC"/>
          </a:solidFill>
          <a:ln/>
        </p:spPr>
        <p:txBody>
          <a:bodyPr/>
          <a:lstStyle/>
          <a:p>
            <a:endParaRPr lang="en-US"/>
          </a:p>
        </p:txBody>
      </p:sp>
      <p:sp>
        <p:nvSpPr>
          <p:cNvPr id="16" name="Shape 14"/>
          <p:cNvSpPr/>
          <p:nvPr/>
        </p:nvSpPr>
        <p:spPr>
          <a:xfrm>
            <a:off x="7091958" y="5626298"/>
            <a:ext cx="446484" cy="446484"/>
          </a:xfrm>
          <a:prstGeom prst="roundRect">
            <a:avLst>
              <a:gd name="adj" fmla="val 18670"/>
            </a:avLst>
          </a:prstGeom>
          <a:solidFill>
            <a:srgbClr val="DDEEE6"/>
          </a:solidFill>
          <a:ln w="7620">
            <a:solidFill>
              <a:srgbClr val="C3D4CC"/>
            </a:solidFill>
            <a:prstDash val="solid"/>
          </a:ln>
        </p:spPr>
        <p:txBody>
          <a:bodyPr/>
          <a:lstStyle/>
          <a:p>
            <a:endParaRPr lang="en-US"/>
          </a:p>
        </p:txBody>
      </p:sp>
      <p:sp>
        <p:nvSpPr>
          <p:cNvPr id="17" name="Text 15"/>
          <p:cNvSpPr/>
          <p:nvPr/>
        </p:nvSpPr>
        <p:spPr>
          <a:xfrm>
            <a:off x="7166372" y="5663505"/>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3B4E4E"/>
                </a:solidFill>
                <a:latin typeface="Syne Bold" pitchFamily="34" charset="0"/>
                <a:ea typeface="Syne Bold" pitchFamily="34" charset="-122"/>
                <a:cs typeface="Syne Bold" pitchFamily="34" charset="-120"/>
              </a:rPr>
              <a:t>3</a:t>
            </a:r>
            <a:endParaRPr lang="en-US" sz="2300" dirty="0"/>
          </a:p>
        </p:txBody>
      </p:sp>
      <p:sp>
        <p:nvSpPr>
          <p:cNvPr id="18" name="Text 16"/>
          <p:cNvSpPr/>
          <p:nvPr/>
        </p:nvSpPr>
        <p:spPr>
          <a:xfrm>
            <a:off x="3842028" y="5694521"/>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1964 World’s Fair</a:t>
            </a:r>
            <a:endParaRPr lang="en-US" sz="1950" dirty="0"/>
          </a:p>
        </p:txBody>
      </p:sp>
      <p:sp>
        <p:nvSpPr>
          <p:cNvPr id="19" name="Text 17"/>
          <p:cNvSpPr/>
          <p:nvPr/>
        </p:nvSpPr>
        <p:spPr>
          <a:xfrm>
            <a:off x="793790" y="6123742"/>
            <a:ext cx="552914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The Abraham Lincoln animatronic captivated audiences, marking the first human figure with fully synchronized speech and movement. This figure delivered speeches, demonstrating a leap in lifelike robotic performance.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048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Crafting</a:t>
            </a:r>
            <a:endParaRPr lang="en-US" sz="1950" dirty="0"/>
          </a:p>
        </p:txBody>
      </p:sp>
      <p:sp>
        <p:nvSpPr>
          <p:cNvPr id="3" name="Text 1"/>
          <p:cNvSpPr/>
          <p:nvPr/>
        </p:nvSpPr>
        <p:spPr>
          <a:xfrm>
            <a:off x="793790" y="1213366"/>
            <a:ext cx="13042821" cy="1045845"/>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How Animatronics Are Made</a:t>
            </a:r>
            <a:endParaRPr lang="en-US" sz="5350" dirty="0"/>
          </a:p>
        </p:txBody>
      </p:sp>
      <p:sp>
        <p:nvSpPr>
          <p:cNvPr id="4" name="Text 2"/>
          <p:cNvSpPr/>
          <p:nvPr/>
        </p:nvSpPr>
        <p:spPr>
          <a:xfrm>
            <a:off x="793790" y="322266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01</a:t>
            </a:r>
            <a:endParaRPr lang="en-US" sz="1550" dirty="0"/>
          </a:p>
        </p:txBody>
      </p:sp>
      <p:sp>
        <p:nvSpPr>
          <p:cNvPr id="5" name="Shape 3"/>
          <p:cNvSpPr/>
          <p:nvPr/>
        </p:nvSpPr>
        <p:spPr>
          <a:xfrm>
            <a:off x="793790" y="3536990"/>
            <a:ext cx="6422231" cy="22860"/>
          </a:xfrm>
          <a:prstGeom prst="rect">
            <a:avLst/>
          </a:prstGeom>
          <a:solidFill>
            <a:srgbClr val="224435"/>
          </a:solidFill>
          <a:ln/>
        </p:spPr>
        <p:txBody>
          <a:bodyPr/>
          <a:lstStyle/>
          <a:p>
            <a:endParaRPr lang="en-US"/>
          </a:p>
        </p:txBody>
      </p:sp>
      <p:sp>
        <p:nvSpPr>
          <p:cNvPr id="6" name="Text 4"/>
          <p:cNvSpPr/>
          <p:nvPr/>
        </p:nvSpPr>
        <p:spPr>
          <a:xfrm>
            <a:off x="793790" y="3681889"/>
            <a:ext cx="4525566"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Design &amp; Conceptualization</a:t>
            </a:r>
            <a:endParaRPr lang="en-US" sz="2300" dirty="0"/>
          </a:p>
        </p:txBody>
      </p:sp>
      <p:sp>
        <p:nvSpPr>
          <p:cNvPr id="7" name="Text 5"/>
          <p:cNvSpPr/>
          <p:nvPr/>
        </p:nvSpPr>
        <p:spPr>
          <a:xfrm>
            <a:off x="793790" y="4173022"/>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The process begins with collaborative client and engineering discussions to define the character's purpose, appearance, and range of movements. Detailed sketches and digital models are created.</a:t>
            </a:r>
            <a:endParaRPr lang="en-US" sz="1550" dirty="0"/>
          </a:p>
        </p:txBody>
      </p:sp>
      <p:sp>
        <p:nvSpPr>
          <p:cNvPr id="8" name="Text 6"/>
          <p:cNvSpPr/>
          <p:nvPr/>
        </p:nvSpPr>
        <p:spPr>
          <a:xfrm>
            <a:off x="7414379" y="322266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02</a:t>
            </a:r>
            <a:endParaRPr lang="en-US" sz="1550" dirty="0"/>
          </a:p>
        </p:txBody>
      </p:sp>
      <p:sp>
        <p:nvSpPr>
          <p:cNvPr id="9" name="Shape 7"/>
          <p:cNvSpPr/>
          <p:nvPr/>
        </p:nvSpPr>
        <p:spPr>
          <a:xfrm>
            <a:off x="7414379" y="3536990"/>
            <a:ext cx="6422231" cy="22860"/>
          </a:xfrm>
          <a:prstGeom prst="rect">
            <a:avLst/>
          </a:prstGeom>
          <a:solidFill>
            <a:srgbClr val="224435"/>
          </a:solidFill>
          <a:ln/>
        </p:spPr>
        <p:txBody>
          <a:bodyPr/>
          <a:lstStyle/>
          <a:p>
            <a:endParaRPr lang="en-US"/>
          </a:p>
        </p:txBody>
      </p:sp>
      <p:sp>
        <p:nvSpPr>
          <p:cNvPr id="10" name="Text 8"/>
          <p:cNvSpPr/>
          <p:nvPr/>
        </p:nvSpPr>
        <p:spPr>
          <a:xfrm>
            <a:off x="7414379" y="3681889"/>
            <a:ext cx="4034076"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Sculpting &amp; Mold Making</a:t>
            </a:r>
            <a:endParaRPr lang="en-US" sz="2300" dirty="0"/>
          </a:p>
        </p:txBody>
      </p:sp>
      <p:sp>
        <p:nvSpPr>
          <p:cNvPr id="11" name="Text 9"/>
          <p:cNvSpPr/>
          <p:nvPr/>
        </p:nvSpPr>
        <p:spPr>
          <a:xfrm>
            <a:off x="7414379" y="4173022"/>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Two-dimensional concepts are transformed into three-dimensional forms, often sculpted by hand or using digital carving tools. Molds are then created to produce flexible skin components from silicone or latex.</a:t>
            </a:r>
            <a:endParaRPr lang="en-US" sz="1550" dirty="0"/>
          </a:p>
        </p:txBody>
      </p:sp>
      <p:sp>
        <p:nvSpPr>
          <p:cNvPr id="12" name="Text 10"/>
          <p:cNvSpPr/>
          <p:nvPr/>
        </p:nvSpPr>
        <p:spPr>
          <a:xfrm>
            <a:off x="793790" y="547282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03</a:t>
            </a:r>
            <a:endParaRPr lang="en-US" sz="1550" dirty="0"/>
          </a:p>
        </p:txBody>
      </p:sp>
      <p:sp>
        <p:nvSpPr>
          <p:cNvPr id="13" name="Shape 11"/>
          <p:cNvSpPr/>
          <p:nvPr/>
        </p:nvSpPr>
        <p:spPr>
          <a:xfrm>
            <a:off x="793790" y="5787152"/>
            <a:ext cx="6422231" cy="22860"/>
          </a:xfrm>
          <a:prstGeom prst="rect">
            <a:avLst/>
          </a:prstGeom>
          <a:solidFill>
            <a:srgbClr val="224435"/>
          </a:solidFill>
          <a:ln/>
        </p:spPr>
        <p:txBody>
          <a:bodyPr/>
          <a:lstStyle/>
          <a:p>
            <a:endParaRPr lang="en-US"/>
          </a:p>
        </p:txBody>
      </p:sp>
      <p:sp>
        <p:nvSpPr>
          <p:cNvPr id="14" name="Text 12"/>
          <p:cNvSpPr/>
          <p:nvPr/>
        </p:nvSpPr>
        <p:spPr>
          <a:xfrm>
            <a:off x="793790" y="5932051"/>
            <a:ext cx="3516630"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Armature Fabrication</a:t>
            </a:r>
            <a:endParaRPr lang="en-US" sz="2300" dirty="0"/>
          </a:p>
        </p:txBody>
      </p:sp>
      <p:sp>
        <p:nvSpPr>
          <p:cNvPr id="15" name="Text 13"/>
          <p:cNvSpPr/>
          <p:nvPr/>
        </p:nvSpPr>
        <p:spPr>
          <a:xfrm>
            <a:off x="793790" y="6423184"/>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Beneath the skin, a sophisticated metal skeleton (armature) is built. This framework houses the mechanical and electronic components, allowing for realistic, fluid motion.</a:t>
            </a:r>
            <a:endParaRPr lang="en-US" sz="1550" dirty="0"/>
          </a:p>
        </p:txBody>
      </p:sp>
      <p:sp>
        <p:nvSpPr>
          <p:cNvPr id="16" name="Text 14"/>
          <p:cNvSpPr/>
          <p:nvPr/>
        </p:nvSpPr>
        <p:spPr>
          <a:xfrm>
            <a:off x="7414379" y="547282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04</a:t>
            </a:r>
            <a:endParaRPr lang="en-US" sz="1550" dirty="0"/>
          </a:p>
        </p:txBody>
      </p:sp>
      <p:sp>
        <p:nvSpPr>
          <p:cNvPr id="17" name="Shape 15"/>
          <p:cNvSpPr/>
          <p:nvPr/>
        </p:nvSpPr>
        <p:spPr>
          <a:xfrm>
            <a:off x="7414379" y="5787152"/>
            <a:ext cx="6422231" cy="22860"/>
          </a:xfrm>
          <a:prstGeom prst="rect">
            <a:avLst/>
          </a:prstGeom>
          <a:solidFill>
            <a:srgbClr val="224435"/>
          </a:solidFill>
          <a:ln/>
        </p:spPr>
        <p:txBody>
          <a:bodyPr/>
          <a:lstStyle/>
          <a:p>
            <a:endParaRPr lang="en-US"/>
          </a:p>
        </p:txBody>
      </p:sp>
      <p:sp>
        <p:nvSpPr>
          <p:cNvPr id="18" name="Text 16"/>
          <p:cNvSpPr/>
          <p:nvPr/>
        </p:nvSpPr>
        <p:spPr>
          <a:xfrm>
            <a:off x="7414379" y="5932051"/>
            <a:ext cx="4424482"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Costuming &amp; Programming</a:t>
            </a:r>
            <a:endParaRPr lang="en-US" sz="2300" dirty="0"/>
          </a:p>
        </p:txBody>
      </p:sp>
      <p:sp>
        <p:nvSpPr>
          <p:cNvPr id="19" name="Text 17"/>
          <p:cNvSpPr/>
          <p:nvPr/>
        </p:nvSpPr>
        <p:spPr>
          <a:xfrm>
            <a:off x="7414379" y="6423184"/>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Finally, tailored costumes and intricate control software bring the character to life. Precise programming synchronizes movements, sound, and even facial expressions for a seamless, lifelike performance.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5569" y="512564"/>
            <a:ext cx="2808923" cy="291227"/>
          </a:xfrm>
          <a:prstGeom prst="rect">
            <a:avLst/>
          </a:prstGeom>
          <a:noFill/>
          <a:ln/>
        </p:spPr>
        <p:txBody>
          <a:bodyPr wrap="none" lIns="0" tIns="0" rIns="0" bIns="0" rtlCol="0" anchor="t"/>
          <a:lstStyle/>
          <a:p>
            <a:pPr marL="0" indent="0" algn="l">
              <a:lnSpc>
                <a:spcPts val="2250"/>
              </a:lnSpc>
              <a:buNone/>
            </a:pPr>
            <a:r>
              <a:rPr lang="en-US" sz="1800" b="1" dirty="0">
                <a:solidFill>
                  <a:srgbClr val="233939"/>
                </a:solidFill>
                <a:latin typeface="Syne Bold" pitchFamily="34" charset="0"/>
                <a:ea typeface="Syne Bold" pitchFamily="34" charset="-122"/>
                <a:cs typeface="Syne Bold" pitchFamily="34" charset="-120"/>
              </a:rPr>
              <a:t>Engineering Principles</a:t>
            </a:r>
            <a:endParaRPr lang="en-US" sz="1800" dirty="0"/>
          </a:p>
        </p:txBody>
      </p:sp>
      <p:sp>
        <p:nvSpPr>
          <p:cNvPr id="3" name="Text 1"/>
          <p:cNvSpPr/>
          <p:nvPr/>
        </p:nvSpPr>
        <p:spPr>
          <a:xfrm>
            <a:off x="745569" y="990124"/>
            <a:ext cx="10440710" cy="803791"/>
          </a:xfrm>
          <a:prstGeom prst="rect">
            <a:avLst/>
          </a:prstGeom>
          <a:noFill/>
          <a:ln/>
        </p:spPr>
        <p:txBody>
          <a:bodyPr wrap="none" lIns="0" tIns="0" rIns="0" bIns="0" rtlCol="0" anchor="t"/>
          <a:lstStyle/>
          <a:p>
            <a:pPr marL="0" indent="0" algn="l">
              <a:lnSpc>
                <a:spcPts val="6300"/>
              </a:lnSpc>
              <a:buNone/>
            </a:pPr>
            <a:r>
              <a:rPr lang="en-US" sz="5050" b="1" dirty="0">
                <a:solidFill>
                  <a:srgbClr val="233939"/>
                </a:solidFill>
                <a:latin typeface="Syne Bold" pitchFamily="34" charset="0"/>
                <a:ea typeface="Syne Bold" pitchFamily="34" charset="-122"/>
                <a:cs typeface="Syne Bold" pitchFamily="34" charset="-120"/>
              </a:rPr>
              <a:t>Technology Behind the Magic</a:t>
            </a:r>
            <a:endParaRPr lang="en-US" sz="5050" dirty="0"/>
          </a:p>
        </p:txBody>
      </p:sp>
      <p:sp>
        <p:nvSpPr>
          <p:cNvPr id="4" name="Shape 2"/>
          <p:cNvSpPr/>
          <p:nvPr/>
        </p:nvSpPr>
        <p:spPr>
          <a:xfrm>
            <a:off x="745569" y="2073473"/>
            <a:ext cx="6476405"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5" name="Shape 3"/>
          <p:cNvSpPr/>
          <p:nvPr/>
        </p:nvSpPr>
        <p:spPr>
          <a:xfrm>
            <a:off x="939522" y="2267426"/>
            <a:ext cx="559118" cy="559118"/>
          </a:xfrm>
          <a:prstGeom prst="roundRect">
            <a:avLst>
              <a:gd name="adj" fmla="val 16352694"/>
            </a:avLst>
          </a:prstGeom>
          <a:solidFill>
            <a:srgbClr val="22443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3232" y="2389703"/>
            <a:ext cx="251579" cy="314444"/>
          </a:xfrm>
          <a:prstGeom prst="rect">
            <a:avLst/>
          </a:prstGeom>
        </p:spPr>
      </p:pic>
      <p:sp>
        <p:nvSpPr>
          <p:cNvPr id="7" name="Text 4"/>
          <p:cNvSpPr/>
          <p:nvPr/>
        </p:nvSpPr>
        <p:spPr>
          <a:xfrm>
            <a:off x="939522" y="3012877"/>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Actuators</a:t>
            </a:r>
            <a:endParaRPr lang="en-US" sz="1800" dirty="0"/>
          </a:p>
        </p:txBody>
      </p:sp>
      <p:sp>
        <p:nvSpPr>
          <p:cNvPr id="8" name="Text 5"/>
          <p:cNvSpPr/>
          <p:nvPr/>
        </p:nvSpPr>
        <p:spPr>
          <a:xfrm>
            <a:off x="939522" y="3415903"/>
            <a:ext cx="6088499"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Animatronic movements are powered by various actuators. Pneumatic systems use compressed air, hydraulic systems use fluid pressure, and electric motors provide precise rotational or linear motion, each simulating muscle action.</a:t>
            </a:r>
            <a:endParaRPr lang="en-US" sz="1450" dirty="0"/>
          </a:p>
        </p:txBody>
      </p:sp>
      <p:sp>
        <p:nvSpPr>
          <p:cNvPr id="9" name="Shape 6"/>
          <p:cNvSpPr/>
          <p:nvPr/>
        </p:nvSpPr>
        <p:spPr>
          <a:xfrm>
            <a:off x="7408307" y="2073473"/>
            <a:ext cx="6476524"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10" name="Shape 7"/>
          <p:cNvSpPr/>
          <p:nvPr/>
        </p:nvSpPr>
        <p:spPr>
          <a:xfrm>
            <a:off x="7602260" y="2267426"/>
            <a:ext cx="559118" cy="559118"/>
          </a:xfrm>
          <a:prstGeom prst="roundRect">
            <a:avLst>
              <a:gd name="adj" fmla="val 16352694"/>
            </a:avLst>
          </a:prstGeom>
          <a:solidFill>
            <a:srgbClr val="224435"/>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755969" y="2389703"/>
            <a:ext cx="251579" cy="314444"/>
          </a:xfrm>
          <a:prstGeom prst="rect">
            <a:avLst/>
          </a:prstGeom>
        </p:spPr>
      </p:pic>
      <p:sp>
        <p:nvSpPr>
          <p:cNvPr id="12" name="Text 8"/>
          <p:cNvSpPr/>
          <p:nvPr/>
        </p:nvSpPr>
        <p:spPr>
          <a:xfrm>
            <a:off x="7602260" y="3012877"/>
            <a:ext cx="3382447"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Sensors &amp; Microcontrollers</a:t>
            </a:r>
            <a:endParaRPr lang="en-US" sz="1800" dirty="0"/>
          </a:p>
        </p:txBody>
      </p:sp>
      <p:sp>
        <p:nvSpPr>
          <p:cNvPr id="13" name="Text 9"/>
          <p:cNvSpPr/>
          <p:nvPr/>
        </p:nvSpPr>
        <p:spPr>
          <a:xfrm>
            <a:off x="7602260" y="3415903"/>
            <a:ext cx="6088618"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Sensors detect position, pressure, or movement, providing feedback to microcontrollers. These microcontrollers then execute pre-programmed sequences or respond to real-time remote commands, ensuring smooth and accurate motion.</a:t>
            </a:r>
            <a:endParaRPr lang="en-US" sz="1450" dirty="0"/>
          </a:p>
        </p:txBody>
      </p:sp>
      <p:sp>
        <p:nvSpPr>
          <p:cNvPr id="14" name="Shape 10"/>
          <p:cNvSpPr/>
          <p:nvPr/>
        </p:nvSpPr>
        <p:spPr>
          <a:xfrm>
            <a:off x="745569" y="4989195"/>
            <a:ext cx="6476405"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15" name="Shape 11"/>
          <p:cNvSpPr/>
          <p:nvPr/>
        </p:nvSpPr>
        <p:spPr>
          <a:xfrm>
            <a:off x="939522" y="5183148"/>
            <a:ext cx="559118" cy="559118"/>
          </a:xfrm>
          <a:prstGeom prst="roundRect">
            <a:avLst>
              <a:gd name="adj" fmla="val 16352694"/>
            </a:avLst>
          </a:prstGeom>
          <a:solidFill>
            <a:srgbClr val="224435"/>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93232" y="5305425"/>
            <a:ext cx="251579" cy="314444"/>
          </a:xfrm>
          <a:prstGeom prst="rect">
            <a:avLst/>
          </a:prstGeom>
        </p:spPr>
      </p:pic>
      <p:sp>
        <p:nvSpPr>
          <p:cNvPr id="17" name="Text 12"/>
          <p:cNvSpPr/>
          <p:nvPr/>
        </p:nvSpPr>
        <p:spPr>
          <a:xfrm>
            <a:off x="939522" y="5928598"/>
            <a:ext cx="2823805"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Precision Design Tools</a:t>
            </a:r>
            <a:endParaRPr lang="en-US" sz="1800" dirty="0"/>
          </a:p>
        </p:txBody>
      </p:sp>
      <p:sp>
        <p:nvSpPr>
          <p:cNvPr id="18" name="Text 13"/>
          <p:cNvSpPr/>
          <p:nvPr/>
        </p:nvSpPr>
        <p:spPr>
          <a:xfrm>
            <a:off x="939522" y="6331625"/>
            <a:ext cx="6088499"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Computer-Aided Design (CAD) software is essential for modeling complex mechanical parts. Laser scanning technologies ensure exact replication of physical sculptures into digital formats, maintaining high fidelity from concept to creation.</a:t>
            </a:r>
            <a:endParaRPr lang="en-US" sz="1450" dirty="0"/>
          </a:p>
        </p:txBody>
      </p:sp>
      <p:sp>
        <p:nvSpPr>
          <p:cNvPr id="19" name="Shape 14"/>
          <p:cNvSpPr/>
          <p:nvPr/>
        </p:nvSpPr>
        <p:spPr>
          <a:xfrm>
            <a:off x="7408307" y="4989195"/>
            <a:ext cx="6476524"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20" name="Shape 15"/>
          <p:cNvSpPr/>
          <p:nvPr/>
        </p:nvSpPr>
        <p:spPr>
          <a:xfrm>
            <a:off x="7602260" y="5183148"/>
            <a:ext cx="559118" cy="559118"/>
          </a:xfrm>
          <a:prstGeom prst="roundRect">
            <a:avLst>
              <a:gd name="adj" fmla="val 16352694"/>
            </a:avLst>
          </a:prstGeom>
          <a:solidFill>
            <a:srgbClr val="224435"/>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7755969" y="5305425"/>
            <a:ext cx="251579" cy="314444"/>
          </a:xfrm>
          <a:prstGeom prst="rect">
            <a:avLst/>
          </a:prstGeom>
        </p:spPr>
      </p:pic>
      <p:sp>
        <p:nvSpPr>
          <p:cNvPr id="22" name="Text 16"/>
          <p:cNvSpPr/>
          <p:nvPr/>
        </p:nvSpPr>
        <p:spPr>
          <a:xfrm>
            <a:off x="7602260" y="5928598"/>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Motion Control</a:t>
            </a:r>
            <a:endParaRPr lang="en-US" sz="1800" dirty="0"/>
          </a:p>
        </p:txBody>
      </p:sp>
      <p:sp>
        <p:nvSpPr>
          <p:cNvPr id="23" name="Text 17"/>
          <p:cNvSpPr/>
          <p:nvPr/>
        </p:nvSpPr>
        <p:spPr>
          <a:xfrm>
            <a:off x="7602260" y="6331625"/>
            <a:ext cx="6088618"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Advanced motion actuators are calibrated to replicate the subtle nuances of human and animal movements, including detailed limb articulations and expressive facial expressions, contributing significantly to the animatronic's realism.</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772358" y="1026438"/>
            <a:ext cx="13085683" cy="926902"/>
          </a:xfrm>
          <a:prstGeom prst="rect">
            <a:avLst/>
          </a:prstGeom>
          <a:noFill/>
          <a:ln/>
        </p:spPr>
        <p:txBody>
          <a:bodyPr wrap="square" lIns="0" tIns="0" rIns="0" bIns="0" rtlCol="0" anchor="t"/>
          <a:lstStyle/>
          <a:p>
            <a:pPr marL="0" indent="0" algn="l">
              <a:lnSpc>
                <a:spcPts val="6550"/>
              </a:lnSpc>
              <a:buNone/>
            </a:pPr>
            <a:r>
              <a:rPr lang="en-US" sz="5200" b="1" dirty="0">
                <a:solidFill>
                  <a:srgbClr val="233939"/>
                </a:solidFill>
                <a:latin typeface="Syne Bold" pitchFamily="34" charset="0"/>
                <a:ea typeface="Syne Bold" pitchFamily="34" charset="-122"/>
                <a:cs typeface="Syne Bold" pitchFamily="34" charset="-120"/>
              </a:rPr>
              <a:t>Practical Robotics Applications</a:t>
            </a:r>
            <a:endParaRPr lang="en-US" sz="5200" dirty="0"/>
          </a:p>
        </p:txBody>
      </p:sp>
      <p:pic>
        <p:nvPicPr>
          <p:cNvPr id="4" name="Image 0" descr="preencoded.png"/>
          <p:cNvPicPr>
            <a:picLocks noChangeAspect="1"/>
          </p:cNvPicPr>
          <p:nvPr/>
        </p:nvPicPr>
        <p:blipFill>
          <a:blip r:embed="rId3"/>
          <a:stretch>
            <a:fillRect/>
          </a:stretch>
        </p:blipFill>
        <p:spPr>
          <a:xfrm>
            <a:off x="772358" y="2981682"/>
            <a:ext cx="579239" cy="579239"/>
          </a:xfrm>
          <a:prstGeom prst="rect">
            <a:avLst/>
          </a:prstGeom>
        </p:spPr>
      </p:pic>
      <p:sp>
        <p:nvSpPr>
          <p:cNvPr id="5" name="Text 2"/>
          <p:cNvSpPr/>
          <p:nvPr/>
        </p:nvSpPr>
        <p:spPr>
          <a:xfrm>
            <a:off x="772358" y="3802261"/>
            <a:ext cx="3569375"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Military Training Simulators</a:t>
            </a:r>
            <a:endParaRPr lang="en-US" sz="1900" dirty="0"/>
          </a:p>
        </p:txBody>
      </p:sp>
      <p:sp>
        <p:nvSpPr>
          <p:cNvPr id="6" name="Text 3"/>
          <p:cNvSpPr/>
          <p:nvPr/>
        </p:nvSpPr>
        <p:spPr>
          <a:xfrm>
            <a:off x="772358" y="4219694"/>
            <a:ext cx="6422112"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Animatronic figures are used in highly realistic training scenarios for military and law enforcement personnel, simulating various threats and conditions to prepare trainees for real-world situations.</a:t>
            </a:r>
            <a:endParaRPr lang="en-US" sz="1500" dirty="0"/>
          </a:p>
        </p:txBody>
      </p:sp>
      <p:pic>
        <p:nvPicPr>
          <p:cNvPr id="7" name="Image 1" descr="preencoded.png"/>
          <p:cNvPicPr>
            <a:picLocks noChangeAspect="1"/>
          </p:cNvPicPr>
          <p:nvPr/>
        </p:nvPicPr>
        <p:blipFill>
          <a:blip r:embed="rId4"/>
          <a:stretch>
            <a:fillRect/>
          </a:stretch>
        </p:blipFill>
        <p:spPr>
          <a:xfrm>
            <a:off x="7435810" y="2981682"/>
            <a:ext cx="579239" cy="579239"/>
          </a:xfrm>
          <a:prstGeom prst="rect">
            <a:avLst/>
          </a:prstGeom>
        </p:spPr>
      </p:pic>
      <p:sp>
        <p:nvSpPr>
          <p:cNvPr id="8" name="Text 4"/>
          <p:cNvSpPr/>
          <p:nvPr/>
        </p:nvSpPr>
        <p:spPr>
          <a:xfrm>
            <a:off x="7435810" y="3802261"/>
            <a:ext cx="2413873"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Medical Robotics</a:t>
            </a:r>
            <a:endParaRPr lang="en-US" sz="1900" dirty="0"/>
          </a:p>
        </p:txBody>
      </p:sp>
      <p:sp>
        <p:nvSpPr>
          <p:cNvPr id="9" name="Text 5"/>
          <p:cNvSpPr/>
          <p:nvPr/>
        </p:nvSpPr>
        <p:spPr>
          <a:xfrm>
            <a:off x="7435810" y="4219694"/>
            <a:ext cx="6422231"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Robots assist surgeons with precision, perform diagnostic tasks, and aid in rehabilitation therapy, improving patient outcomes and expanding access to advanced medical procedures.</a:t>
            </a:r>
            <a:endParaRPr lang="en-US" sz="1500" dirty="0"/>
          </a:p>
        </p:txBody>
      </p:sp>
      <p:pic>
        <p:nvPicPr>
          <p:cNvPr id="10" name="Image 2" descr="preencoded.png"/>
          <p:cNvPicPr>
            <a:picLocks noChangeAspect="1"/>
          </p:cNvPicPr>
          <p:nvPr/>
        </p:nvPicPr>
        <p:blipFill>
          <a:blip r:embed="rId5"/>
          <a:stretch>
            <a:fillRect/>
          </a:stretch>
        </p:blipFill>
        <p:spPr>
          <a:xfrm>
            <a:off x="772358" y="5532715"/>
            <a:ext cx="579239" cy="579239"/>
          </a:xfrm>
          <a:prstGeom prst="rect">
            <a:avLst/>
          </a:prstGeom>
        </p:spPr>
      </p:pic>
      <p:sp>
        <p:nvSpPr>
          <p:cNvPr id="11" name="Text 6"/>
          <p:cNvSpPr/>
          <p:nvPr/>
        </p:nvSpPr>
        <p:spPr>
          <a:xfrm>
            <a:off x="772358" y="6353294"/>
            <a:ext cx="2875121"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Industrial Automation</a:t>
            </a:r>
            <a:endParaRPr lang="en-US" sz="1900" dirty="0"/>
          </a:p>
        </p:txBody>
      </p:sp>
      <p:sp>
        <p:nvSpPr>
          <p:cNvPr id="12" name="Text 7"/>
          <p:cNvSpPr/>
          <p:nvPr/>
        </p:nvSpPr>
        <p:spPr>
          <a:xfrm>
            <a:off x="772358" y="6770727"/>
            <a:ext cx="6422112"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Industrial robots are the backbone of modern manufacturing, automating repetitive tasks, ensuring precision, and enhancing safety in factories by handling dangerous or heavy materials.</a:t>
            </a:r>
            <a:endParaRPr lang="en-US" sz="1500" dirty="0"/>
          </a:p>
        </p:txBody>
      </p:sp>
      <p:pic>
        <p:nvPicPr>
          <p:cNvPr id="13" name="Image 3" descr="preencoded.png"/>
          <p:cNvPicPr>
            <a:picLocks noChangeAspect="1"/>
          </p:cNvPicPr>
          <p:nvPr/>
        </p:nvPicPr>
        <p:blipFill>
          <a:blip r:embed="rId6"/>
          <a:stretch>
            <a:fillRect/>
          </a:stretch>
        </p:blipFill>
        <p:spPr>
          <a:xfrm>
            <a:off x="7435810" y="5532715"/>
            <a:ext cx="579239" cy="579239"/>
          </a:xfrm>
          <a:prstGeom prst="rect">
            <a:avLst/>
          </a:prstGeom>
        </p:spPr>
      </p:pic>
      <p:sp>
        <p:nvSpPr>
          <p:cNvPr id="14" name="Text 8"/>
          <p:cNvSpPr/>
          <p:nvPr/>
        </p:nvSpPr>
        <p:spPr>
          <a:xfrm>
            <a:off x="7435810" y="6353294"/>
            <a:ext cx="4515445"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Social &amp; Companion Animatronics</a:t>
            </a:r>
            <a:endParaRPr lang="en-US" sz="1900" dirty="0"/>
          </a:p>
        </p:txBody>
      </p:sp>
      <p:sp>
        <p:nvSpPr>
          <p:cNvPr id="15" name="Text 9"/>
          <p:cNvSpPr/>
          <p:nvPr/>
        </p:nvSpPr>
        <p:spPr>
          <a:xfrm>
            <a:off x="7435810" y="6770727"/>
            <a:ext cx="6422231"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Emerging fields include social robots and companion animatronics designed for therapy, education, and companionship, particularly for the elderly or children with special needs.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793790" y="1551265"/>
            <a:ext cx="10225088" cy="855821"/>
          </a:xfrm>
          <a:prstGeom prst="rect">
            <a:avLst/>
          </a:prstGeom>
          <a:noFill/>
          <a:ln/>
        </p:spPr>
        <p:txBody>
          <a:bodyPr wrap="non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Challenges and Limitations</a:t>
            </a:r>
            <a:endParaRPr lang="en-US" sz="5350" dirty="0"/>
          </a:p>
        </p:txBody>
      </p:sp>
      <p:sp>
        <p:nvSpPr>
          <p:cNvPr id="4" name="Shape 2"/>
          <p:cNvSpPr/>
          <p:nvPr/>
        </p:nvSpPr>
        <p:spPr>
          <a:xfrm>
            <a:off x="793790" y="2704743"/>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5" name="Shape 3"/>
          <p:cNvSpPr/>
          <p:nvPr/>
        </p:nvSpPr>
        <p:spPr>
          <a:xfrm>
            <a:off x="770930" y="2704743"/>
            <a:ext cx="91440" cy="2141815"/>
          </a:xfrm>
          <a:prstGeom prst="roundRect">
            <a:avLst>
              <a:gd name="adj" fmla="val 91163"/>
            </a:avLst>
          </a:prstGeom>
          <a:solidFill>
            <a:srgbClr val="224435"/>
          </a:solidFill>
          <a:ln/>
        </p:spPr>
        <p:txBody>
          <a:bodyPr/>
          <a:lstStyle/>
          <a:p>
            <a:endParaRPr lang="en-US"/>
          </a:p>
        </p:txBody>
      </p:sp>
      <p:sp>
        <p:nvSpPr>
          <p:cNvPr id="6" name="Text 4"/>
          <p:cNvSpPr/>
          <p:nvPr/>
        </p:nvSpPr>
        <p:spPr>
          <a:xfrm>
            <a:off x="1083588" y="2925961"/>
            <a:ext cx="3221355"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High Cost &amp; Complexity</a:t>
            </a:r>
            <a:endParaRPr lang="en-US" sz="1950" dirty="0"/>
          </a:p>
        </p:txBody>
      </p:sp>
      <p:sp>
        <p:nvSpPr>
          <p:cNvPr id="7" name="Text 5"/>
          <p:cNvSpPr/>
          <p:nvPr/>
        </p:nvSpPr>
        <p:spPr>
          <a:xfrm>
            <a:off x="1083588" y="3355181"/>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Developing sophisticated animatronics and robots requires substantial investment in R&amp;D, materials, and specialized labor, demanding multidisciplinary expertise across engineering, design, and art.</a:t>
            </a:r>
            <a:endParaRPr lang="en-US" sz="1550" dirty="0"/>
          </a:p>
        </p:txBody>
      </p:sp>
      <p:sp>
        <p:nvSpPr>
          <p:cNvPr id="8" name="Shape 6"/>
          <p:cNvSpPr/>
          <p:nvPr/>
        </p:nvSpPr>
        <p:spPr>
          <a:xfrm>
            <a:off x="7414379" y="2704743"/>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9" name="Shape 7"/>
          <p:cNvSpPr/>
          <p:nvPr/>
        </p:nvSpPr>
        <p:spPr>
          <a:xfrm>
            <a:off x="7391519" y="2704743"/>
            <a:ext cx="91440" cy="2141815"/>
          </a:xfrm>
          <a:prstGeom prst="roundRect">
            <a:avLst>
              <a:gd name="adj" fmla="val 91163"/>
            </a:avLst>
          </a:prstGeom>
          <a:solidFill>
            <a:srgbClr val="224435"/>
          </a:solidFill>
          <a:ln/>
        </p:spPr>
        <p:txBody>
          <a:bodyPr/>
          <a:lstStyle/>
          <a:p>
            <a:endParaRPr lang="en-US"/>
          </a:p>
        </p:txBody>
      </p:sp>
      <p:sp>
        <p:nvSpPr>
          <p:cNvPr id="10" name="Text 8"/>
          <p:cNvSpPr/>
          <p:nvPr/>
        </p:nvSpPr>
        <p:spPr>
          <a:xfrm>
            <a:off x="7704177" y="2925961"/>
            <a:ext cx="3492460"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Time-Intensive Processes</a:t>
            </a:r>
            <a:endParaRPr lang="en-US" sz="1950" dirty="0"/>
          </a:p>
        </p:txBody>
      </p:sp>
      <p:sp>
        <p:nvSpPr>
          <p:cNvPr id="11" name="Text 9"/>
          <p:cNvSpPr/>
          <p:nvPr/>
        </p:nvSpPr>
        <p:spPr>
          <a:xfrm>
            <a:off x="7704177" y="3355181"/>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From initial design and sculpting to armature fabrication and intricate programming, the creation of highly detailed animatronics can take months or even years, delaying deployment.</a:t>
            </a:r>
            <a:endParaRPr lang="en-US" sz="1550" dirty="0"/>
          </a:p>
        </p:txBody>
      </p:sp>
      <p:sp>
        <p:nvSpPr>
          <p:cNvPr id="12" name="Shape 10"/>
          <p:cNvSpPr/>
          <p:nvPr/>
        </p:nvSpPr>
        <p:spPr>
          <a:xfrm>
            <a:off x="793790" y="5044916"/>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13" name="Shape 11"/>
          <p:cNvSpPr/>
          <p:nvPr/>
        </p:nvSpPr>
        <p:spPr>
          <a:xfrm>
            <a:off x="770930" y="5044916"/>
            <a:ext cx="91440" cy="2141815"/>
          </a:xfrm>
          <a:prstGeom prst="roundRect">
            <a:avLst>
              <a:gd name="adj" fmla="val 91163"/>
            </a:avLst>
          </a:prstGeom>
          <a:solidFill>
            <a:srgbClr val="224435"/>
          </a:solidFill>
          <a:ln/>
        </p:spPr>
        <p:txBody>
          <a:bodyPr/>
          <a:lstStyle/>
          <a:p>
            <a:endParaRPr lang="en-US"/>
          </a:p>
        </p:txBody>
      </p:sp>
      <p:sp>
        <p:nvSpPr>
          <p:cNvPr id="14" name="Text 12"/>
          <p:cNvSpPr/>
          <p:nvPr/>
        </p:nvSpPr>
        <p:spPr>
          <a:xfrm>
            <a:off x="1083588" y="5266134"/>
            <a:ext cx="4015740"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Maintenance &amp; Programming</a:t>
            </a:r>
            <a:endParaRPr lang="en-US" sz="1950" dirty="0"/>
          </a:p>
        </p:txBody>
      </p:sp>
      <p:sp>
        <p:nvSpPr>
          <p:cNvPr id="15" name="Text 13"/>
          <p:cNvSpPr/>
          <p:nvPr/>
        </p:nvSpPr>
        <p:spPr>
          <a:xfrm>
            <a:off x="1083588" y="5695355"/>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Ongoing maintenance and fine-tuning of complex mechanical and electronic systems require highly skilled technicians, while programming subtle, lifelike movements demands artistic and technical proficiency.</a:t>
            </a:r>
            <a:endParaRPr lang="en-US" sz="1550" dirty="0"/>
          </a:p>
        </p:txBody>
      </p:sp>
      <p:sp>
        <p:nvSpPr>
          <p:cNvPr id="16" name="Shape 14"/>
          <p:cNvSpPr/>
          <p:nvPr/>
        </p:nvSpPr>
        <p:spPr>
          <a:xfrm>
            <a:off x="7414379" y="5044916"/>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17" name="Shape 15"/>
          <p:cNvSpPr/>
          <p:nvPr/>
        </p:nvSpPr>
        <p:spPr>
          <a:xfrm>
            <a:off x="7391519" y="5044916"/>
            <a:ext cx="91440" cy="2141815"/>
          </a:xfrm>
          <a:prstGeom prst="roundRect">
            <a:avLst>
              <a:gd name="adj" fmla="val 91163"/>
            </a:avLst>
          </a:prstGeom>
          <a:solidFill>
            <a:srgbClr val="224435"/>
          </a:solidFill>
          <a:ln/>
        </p:spPr>
        <p:txBody>
          <a:bodyPr/>
          <a:lstStyle/>
          <a:p>
            <a:endParaRPr lang="en-US"/>
          </a:p>
        </p:txBody>
      </p:sp>
      <p:sp>
        <p:nvSpPr>
          <p:cNvPr id="18" name="Text 16"/>
          <p:cNvSpPr/>
          <p:nvPr/>
        </p:nvSpPr>
        <p:spPr>
          <a:xfrm>
            <a:off x="7704177" y="5266134"/>
            <a:ext cx="4104561"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Realism vs. Durability &amp; Safety</a:t>
            </a:r>
            <a:endParaRPr lang="en-US" sz="1950" dirty="0"/>
          </a:p>
        </p:txBody>
      </p:sp>
      <p:sp>
        <p:nvSpPr>
          <p:cNvPr id="19" name="Text 17"/>
          <p:cNvSpPr/>
          <p:nvPr/>
        </p:nvSpPr>
        <p:spPr>
          <a:xfrm>
            <a:off x="7704177" y="5695355"/>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Striking a balance between achieving a high degree of realism and ensuring the longevity and safe operation of the figures is a constant challenge, especially in high-traffic environments.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57340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The Road Ahead</a:t>
            </a:r>
            <a:endParaRPr lang="en-US" sz="1950" dirty="0"/>
          </a:p>
        </p:txBody>
      </p:sp>
      <p:sp>
        <p:nvSpPr>
          <p:cNvPr id="3" name="Text 1"/>
          <p:cNvSpPr/>
          <p:nvPr/>
        </p:nvSpPr>
        <p:spPr>
          <a:xfrm>
            <a:off x="793790" y="1081921"/>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The Future: Robotics and Animatronics Innovation</a:t>
            </a:r>
            <a:endParaRPr lang="en-US" sz="5350" dirty="0"/>
          </a:p>
        </p:txBody>
      </p:sp>
      <p:sp>
        <p:nvSpPr>
          <p:cNvPr id="4" name="Text 2"/>
          <p:cNvSpPr/>
          <p:nvPr/>
        </p:nvSpPr>
        <p:spPr>
          <a:xfrm>
            <a:off x="2551748" y="3308271"/>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AI Integration</a:t>
            </a:r>
            <a:endParaRPr lang="en-US" sz="1950" dirty="0"/>
          </a:p>
        </p:txBody>
      </p:sp>
      <p:sp>
        <p:nvSpPr>
          <p:cNvPr id="5" name="Text 3"/>
          <p:cNvSpPr/>
          <p:nvPr/>
        </p:nvSpPr>
        <p:spPr>
          <a:xfrm>
            <a:off x="793790" y="3737491"/>
            <a:ext cx="423886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AI will enable more autonomous, adaptive behaviors, allowing figures to respond dynamically to their environment and interact more naturally.</a:t>
            </a:r>
            <a:endParaRPr lang="en-US" sz="1550" dirty="0"/>
          </a:p>
        </p:txBody>
      </p:sp>
      <p:pic>
        <p:nvPicPr>
          <p:cNvPr id="6" name="Image 0" descr="preencoded.png"/>
          <p:cNvPicPr>
            <a:picLocks noChangeAspect="1"/>
          </p:cNvPicPr>
          <p:nvPr/>
        </p:nvPicPr>
        <p:blipFill>
          <a:blip r:embed="rId3"/>
          <a:stretch>
            <a:fillRect/>
          </a:stretch>
        </p:blipFill>
        <p:spPr>
          <a:xfrm>
            <a:off x="5032653" y="3091220"/>
            <a:ext cx="4564975" cy="4564975"/>
          </a:xfrm>
          <a:prstGeom prst="rect">
            <a:avLst/>
          </a:prstGeom>
        </p:spPr>
      </p:pic>
      <p:pic>
        <p:nvPicPr>
          <p:cNvPr id="7" name="Image 1" descr="preencoded.png"/>
          <p:cNvPicPr>
            <a:picLocks noChangeAspect="1"/>
          </p:cNvPicPr>
          <p:nvPr/>
        </p:nvPicPr>
        <p:blipFill>
          <a:blip r:embed="rId4"/>
          <a:stretch>
            <a:fillRect/>
          </a:stretch>
        </p:blipFill>
        <p:spPr>
          <a:xfrm>
            <a:off x="6344305" y="4367986"/>
            <a:ext cx="279083" cy="348853"/>
          </a:xfrm>
          <a:prstGeom prst="rect">
            <a:avLst/>
          </a:prstGeom>
        </p:spPr>
      </p:pic>
      <p:sp>
        <p:nvSpPr>
          <p:cNvPr id="8" name="Text 4"/>
          <p:cNvSpPr/>
          <p:nvPr/>
        </p:nvSpPr>
        <p:spPr>
          <a:xfrm>
            <a:off x="9597628" y="3467100"/>
            <a:ext cx="2945130"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Lightweight Materials</a:t>
            </a:r>
            <a:endParaRPr lang="en-US" sz="1950" dirty="0"/>
          </a:p>
        </p:txBody>
      </p:sp>
      <p:sp>
        <p:nvSpPr>
          <p:cNvPr id="9" name="Text 5"/>
          <p:cNvSpPr/>
          <p:nvPr/>
        </p:nvSpPr>
        <p:spPr>
          <a:xfrm>
            <a:off x="9597628" y="3896320"/>
            <a:ext cx="4238982"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Advances in materials, including soft robotics, will lead to more fluid, natural movement and enhanced safety for human interaction.</a:t>
            </a:r>
            <a:endParaRPr lang="en-US" sz="1550" dirty="0"/>
          </a:p>
        </p:txBody>
      </p:sp>
      <p:pic>
        <p:nvPicPr>
          <p:cNvPr id="10" name="Image 2" descr="preencoded.png"/>
          <p:cNvPicPr>
            <a:picLocks noChangeAspect="1"/>
          </p:cNvPicPr>
          <p:nvPr/>
        </p:nvPicPr>
        <p:blipFill>
          <a:blip r:embed="rId5"/>
          <a:stretch>
            <a:fillRect/>
          </a:stretch>
        </p:blipFill>
        <p:spPr>
          <a:xfrm>
            <a:off x="5032653" y="3091220"/>
            <a:ext cx="4564975" cy="4564975"/>
          </a:xfrm>
          <a:prstGeom prst="rect">
            <a:avLst/>
          </a:prstGeom>
        </p:spPr>
      </p:pic>
      <p:pic>
        <p:nvPicPr>
          <p:cNvPr id="11" name="Image 3" descr="preencoded.png"/>
          <p:cNvPicPr>
            <a:picLocks noChangeAspect="1"/>
          </p:cNvPicPr>
          <p:nvPr/>
        </p:nvPicPr>
        <p:blipFill>
          <a:blip r:embed="rId6"/>
          <a:stretch>
            <a:fillRect/>
          </a:stretch>
        </p:blipFill>
        <p:spPr>
          <a:xfrm>
            <a:off x="8006655" y="4367986"/>
            <a:ext cx="279083" cy="348853"/>
          </a:xfrm>
          <a:prstGeom prst="rect">
            <a:avLst/>
          </a:prstGeom>
        </p:spPr>
      </p:pic>
      <p:sp>
        <p:nvSpPr>
          <p:cNvPr id="12" name="Text 6"/>
          <p:cNvSpPr/>
          <p:nvPr/>
        </p:nvSpPr>
        <p:spPr>
          <a:xfrm>
            <a:off x="9597628" y="573964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VR/AR Blending</a:t>
            </a:r>
            <a:endParaRPr lang="en-US" sz="1950" dirty="0"/>
          </a:p>
        </p:txBody>
      </p:sp>
      <p:sp>
        <p:nvSpPr>
          <p:cNvPr id="13" name="Text 7"/>
          <p:cNvSpPr/>
          <p:nvPr/>
        </p:nvSpPr>
        <p:spPr>
          <a:xfrm>
            <a:off x="9597628" y="6168866"/>
            <a:ext cx="4238982" cy="127015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Combining virtual and augmented reality with physical animatronics will create hybrid experiences, blurring the lines between digital and physical worlds.</a:t>
            </a:r>
            <a:endParaRPr lang="en-US" sz="1550" dirty="0"/>
          </a:p>
        </p:txBody>
      </p:sp>
      <p:pic>
        <p:nvPicPr>
          <p:cNvPr id="14" name="Image 4" descr="preencoded.png"/>
          <p:cNvPicPr>
            <a:picLocks noChangeAspect="1"/>
          </p:cNvPicPr>
          <p:nvPr/>
        </p:nvPicPr>
        <p:blipFill>
          <a:blip r:embed="rId7"/>
          <a:stretch>
            <a:fillRect/>
          </a:stretch>
        </p:blipFill>
        <p:spPr>
          <a:xfrm>
            <a:off x="5032653" y="3091220"/>
            <a:ext cx="4564975" cy="4564975"/>
          </a:xfrm>
          <a:prstGeom prst="rect">
            <a:avLst/>
          </a:prstGeom>
        </p:spPr>
      </p:pic>
      <p:pic>
        <p:nvPicPr>
          <p:cNvPr id="15" name="Image 5" descr="preencoded.png"/>
          <p:cNvPicPr>
            <a:picLocks noChangeAspect="1"/>
          </p:cNvPicPr>
          <p:nvPr/>
        </p:nvPicPr>
        <p:blipFill>
          <a:blip r:embed="rId8"/>
          <a:stretch>
            <a:fillRect/>
          </a:stretch>
        </p:blipFill>
        <p:spPr>
          <a:xfrm>
            <a:off x="8006655" y="6030337"/>
            <a:ext cx="279083" cy="348853"/>
          </a:xfrm>
          <a:prstGeom prst="rect">
            <a:avLst/>
          </a:prstGeom>
        </p:spPr>
      </p:pic>
      <p:sp>
        <p:nvSpPr>
          <p:cNvPr id="16" name="Text 8"/>
          <p:cNvSpPr/>
          <p:nvPr/>
        </p:nvSpPr>
        <p:spPr>
          <a:xfrm>
            <a:off x="2551748" y="57396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Expanding Roles</a:t>
            </a:r>
            <a:endParaRPr lang="en-US" sz="1950" dirty="0"/>
          </a:p>
        </p:txBody>
      </p:sp>
      <p:sp>
        <p:nvSpPr>
          <p:cNvPr id="17" name="Text 9"/>
          <p:cNvSpPr/>
          <p:nvPr/>
        </p:nvSpPr>
        <p:spPr>
          <a:xfrm>
            <a:off x="793790" y="6168866"/>
            <a:ext cx="423886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Expect to see animatronics and robots play larger roles in education, healthcare (e.g., robotic companions), and advanced interactive storytelling.</a:t>
            </a:r>
            <a:endParaRPr lang="en-US" sz="1550" dirty="0"/>
          </a:p>
        </p:txBody>
      </p:sp>
      <p:pic>
        <p:nvPicPr>
          <p:cNvPr id="18" name="Image 6" descr="preencoded.png"/>
          <p:cNvPicPr>
            <a:picLocks noChangeAspect="1"/>
          </p:cNvPicPr>
          <p:nvPr/>
        </p:nvPicPr>
        <p:blipFill>
          <a:blip r:embed="rId9"/>
          <a:stretch>
            <a:fillRect/>
          </a:stretch>
        </p:blipFill>
        <p:spPr>
          <a:xfrm>
            <a:off x="5032653" y="3091220"/>
            <a:ext cx="4564975" cy="4564975"/>
          </a:xfrm>
          <a:prstGeom prst="rect">
            <a:avLst/>
          </a:prstGeom>
        </p:spPr>
      </p:pic>
      <p:pic>
        <p:nvPicPr>
          <p:cNvPr id="19" name="Image 7" descr="preencoded.png"/>
          <p:cNvPicPr>
            <a:picLocks noChangeAspect="1"/>
          </p:cNvPicPr>
          <p:nvPr/>
        </p:nvPicPr>
        <p:blipFill>
          <a:blip r:embed="rId10"/>
          <a:stretch>
            <a:fillRect/>
          </a:stretch>
        </p:blipFill>
        <p:spPr>
          <a:xfrm>
            <a:off x="6344305" y="6030337"/>
            <a:ext cx="279083" cy="3488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4834295" y="3990856"/>
            <a:ext cx="4961811" cy="620078"/>
          </a:xfrm>
          <a:prstGeom prst="rect">
            <a:avLst/>
          </a:prstGeom>
          <a:noFill/>
          <a:ln/>
        </p:spPr>
        <p:txBody>
          <a:bodyPr wrap="none" lIns="0" tIns="0" rIns="0" bIns="0" rtlCol="0" anchor="t"/>
          <a:lstStyle/>
          <a:p>
            <a:pPr marL="0" indent="0" algn="ctr">
              <a:lnSpc>
                <a:spcPts val="4850"/>
              </a:lnSpc>
              <a:buNone/>
            </a:pPr>
            <a:r>
              <a:rPr lang="en-US" sz="3900" b="1" dirty="0">
                <a:solidFill>
                  <a:srgbClr val="233939"/>
                </a:solidFill>
                <a:latin typeface="Syne Bold" pitchFamily="34" charset="0"/>
                <a:ea typeface="Syne Bold" pitchFamily="34" charset="-122"/>
                <a:cs typeface="Syne Bold" pitchFamily="34" charset="-120"/>
              </a:rPr>
              <a:t>Conclusion</a:t>
            </a:r>
            <a:endParaRPr lang="en-US" sz="3900" dirty="0"/>
          </a:p>
        </p:txBody>
      </p:sp>
      <p:sp>
        <p:nvSpPr>
          <p:cNvPr id="4" name="Text 1"/>
          <p:cNvSpPr/>
          <p:nvPr/>
        </p:nvSpPr>
        <p:spPr>
          <a:xfrm>
            <a:off x="793790" y="490859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Robotics and animatronics stand at the fascinating intersection of art, engineering, and science. From bringing fantastical creatures to life in entertainment to revolutionizing industries and healthcare, these technologies are continually pushing the boundaries of what machines can achieve.</a:t>
            </a:r>
            <a:endParaRPr lang="en-US" sz="1550" dirty="0"/>
          </a:p>
        </p:txBody>
      </p:sp>
      <p:sp>
        <p:nvSpPr>
          <p:cNvPr id="5" name="Text 2"/>
          <p:cNvSpPr/>
          <p:nvPr/>
        </p:nvSpPr>
        <p:spPr>
          <a:xfrm>
            <a:off x="793790" y="5766911"/>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While challenges remain in cost, complexity, and maintenance, the ongoing integration of AI, advanced materials, and immersive technologies promises an even more dynamic and impactful future, where the line between the physical and digital, and between human and machine, continues to evolve.</a:t>
            </a:r>
            <a:endParaRPr lang="en-US" sz="1550" dirty="0"/>
          </a:p>
        </p:txBody>
      </p:sp>
      <p:sp>
        <p:nvSpPr>
          <p:cNvPr id="7" name="Text 2">
            <a:extLst>
              <a:ext uri="{FF2B5EF4-FFF2-40B4-BE49-F238E27FC236}">
                <a16:creationId xmlns:a16="http://schemas.microsoft.com/office/drawing/2014/main" id="{B6F28AD2-69C4-26AF-799D-71F6ECA1F602}"/>
              </a:ext>
            </a:extLst>
          </p:cNvPr>
          <p:cNvSpPr/>
          <p:nvPr/>
        </p:nvSpPr>
        <p:spPr>
          <a:xfrm>
            <a:off x="3842828" y="7362996"/>
            <a:ext cx="6944743" cy="319089"/>
          </a:xfrm>
          <a:prstGeom prst="rect">
            <a:avLst/>
          </a:prstGeom>
          <a:noFill/>
          <a:ln/>
        </p:spPr>
        <p:txBody>
          <a:bodyPr wrap="square" lIns="0" tIns="0" rIns="0" bIns="0" rtlCol="0" anchor="t"/>
          <a:lstStyle/>
          <a:p>
            <a:pPr>
              <a:lnSpc>
                <a:spcPts val="2500"/>
              </a:lnSpc>
            </a:pPr>
            <a:r>
              <a:rPr lang="en-US" b="1" dirty="0">
                <a:solidFill>
                  <a:srgbClr val="3B4E4E"/>
                </a:solidFill>
                <a:latin typeface="Aptos" panose="020B0004020202020204" pitchFamily="34" charset="0"/>
                <a:ea typeface="Overpass Light" pitchFamily="34" charset="-122"/>
                <a:cs typeface="Overpass Light" pitchFamily="34" charset="-120"/>
              </a:rPr>
              <a:t>Source: </a:t>
            </a:r>
            <a:r>
              <a:rPr lang="en-US" b="1" dirty="0" err="1">
                <a:solidFill>
                  <a:srgbClr val="3B4E4E"/>
                </a:solidFill>
                <a:latin typeface="Aptos" panose="020B0004020202020204" pitchFamily="34" charset="0"/>
                <a:ea typeface="Overpass Light" pitchFamily="34" charset="-122"/>
                <a:cs typeface="Overpass Light" pitchFamily="34" charset="-120"/>
              </a:rPr>
              <a:t>Edx</a:t>
            </a:r>
            <a:r>
              <a:rPr lang="en-US" b="1" dirty="0">
                <a:solidFill>
                  <a:srgbClr val="3B4E4E"/>
                </a:solidFill>
                <a:latin typeface="Aptos" panose="020B0004020202020204" pitchFamily="34" charset="0"/>
                <a:ea typeface="Overpass Light" pitchFamily="34" charset="-122"/>
                <a:cs typeface="Overpass Light" pitchFamily="34" charset="-120"/>
              </a:rPr>
              <a:t> </a:t>
            </a:r>
            <a:r>
              <a:rPr lang="en-US" sz="1550" b="1" dirty="0">
                <a:solidFill>
                  <a:srgbClr val="3B4E4E"/>
                </a:solidFill>
                <a:latin typeface="Aptos" panose="020B0004020202020204" pitchFamily="34" charset="0"/>
                <a:ea typeface="Overpass Light" pitchFamily="34" charset="-122"/>
                <a:cs typeface="Overpass Light" pitchFamily="34" charset="-120"/>
              </a:rPr>
              <a:t>(</a:t>
            </a:r>
            <a:r>
              <a:rPr lang="en-US" b="1" dirty="0" err="1">
                <a:latin typeface="Aptos" panose="020B0004020202020204" pitchFamily="34" charset="0"/>
              </a:rPr>
              <a:t>FedericaX</a:t>
            </a:r>
            <a:r>
              <a:rPr lang="en-US" b="1" dirty="0">
                <a:latin typeface="Aptos" panose="020B0004020202020204" pitchFamily="34" charset="0"/>
              </a:rPr>
              <a:t>: Robotics Foundations I - Robot Modeling</a:t>
            </a:r>
            <a:r>
              <a:rPr lang="en-US" sz="1550" b="1" dirty="0">
                <a:latin typeface="Aptos" panose="020B0004020202020204" pitchFamily="34" charset="0"/>
              </a:rPr>
              <a:t>)</a:t>
            </a:r>
            <a:endParaRPr lang="en-US" b="1" dirty="0">
              <a:latin typeface="Aptos" panose="020B00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1052</Words>
  <Application>Microsoft Office PowerPoint</Application>
  <PresentationFormat>Custom</PresentationFormat>
  <Paragraphs>83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Overpass Light</vt:lpstr>
      <vt:lpstr>Syne Bold</vt:lpstr>
      <vt:lpstr>Arial</vt:lpstr>
      <vt:lpstr>Syne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shafi uzzaman</cp:lastModifiedBy>
  <cp:revision>2</cp:revision>
  <dcterms:created xsi:type="dcterms:W3CDTF">2025-09-12T03:20:58Z</dcterms:created>
  <dcterms:modified xsi:type="dcterms:W3CDTF">2025-09-13T13:54:48Z</dcterms:modified>
</cp:coreProperties>
</file>
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4630400" cy="8229600"/>
  <p:notesSz cx="8229600" cy="14630400"/>
  <p:embeddedFontLst>
    <p:embeddedFont>
      <p:font typeface="Overpass Light" pitchFamily="2" charset="0"/>
      <p:regular r:id="rId11"/>
      <p:italic r:id="rId12"/>
    </p:embeddedFont>
    <p:embeddedFont>
      <p:font typeface="Syne Bold" pitchFamily="2" charset="0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8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0608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3719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Basics of Occupational Safety / Protecting People at Work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0369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Welcome to this essential guide on occupational safety. This presentation will provide a comprehensive overview of the principles and practices that ensure a safe and healthy work environment for everyone.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7653"/>
            <a:ext cx="93335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What is Occupational Safety?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4006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Occupational safety is more than just regulations; it's a commitment to well-being.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958114"/>
            <a:ext cx="4196358" cy="2093714"/>
          </a:xfrm>
          <a:prstGeom prst="roundRect">
            <a:avLst>
              <a:gd name="adj" fmla="val 4550"/>
            </a:avLst>
          </a:prstGeom>
          <a:solidFill>
            <a:srgbClr val="FFFDE6"/>
          </a:solidFill>
          <a:ln w="3048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93790" y="3958114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2244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73004" y="42154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Risk Control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73004" y="4705826"/>
            <a:ext cx="355985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The practice of controlling workplace risks to prevent injury, illness, and harm.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958114"/>
            <a:ext cx="4196358" cy="2093714"/>
          </a:xfrm>
          <a:prstGeom prst="roundRect">
            <a:avLst>
              <a:gd name="adj" fmla="val 4550"/>
            </a:avLst>
          </a:prstGeom>
          <a:solidFill>
            <a:srgbClr val="FFFDE6"/>
          </a:solidFill>
          <a:ln w="3048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216962" y="3958114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2244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96176" y="42154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Daily Assurance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96176" y="4705826"/>
            <a:ext cx="355985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Ensures employees return home safe and healthy every day.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958114"/>
            <a:ext cx="4196358" cy="2093714"/>
          </a:xfrm>
          <a:prstGeom prst="roundRect">
            <a:avLst>
              <a:gd name="adj" fmla="val 4550"/>
            </a:avLst>
          </a:prstGeom>
          <a:solidFill>
            <a:srgbClr val="FFFDE6"/>
          </a:solidFill>
          <a:ln w="3048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640133" y="3958114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2244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19348" y="4215408"/>
            <a:ext cx="29281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Holistic Well-being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19348" y="4705826"/>
            <a:ext cx="355985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Covers physical, mental, and social well-being in the work environment.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9690973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Why Occupational Safety Matters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06047"/>
            <a:ext cx="634210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The human and economic costs of neglecting occupational safety are staggering. Globally, millions of lives are impacted, and billions of dollars are lost due to preventable incidents.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1638" y="2881313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Over </a:t>
            </a:r>
            <a:r>
              <a:rPr lang="en-US" sz="1600" dirty="0">
                <a:solidFill>
                  <a:srgbClr val="FFE14D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2.75 million work-related deaths</a:t>
            </a: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annually worldwide (ILO, 2025).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1638" y="3613309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FFE14D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270 million workplace accidents</a:t>
            </a: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reported each year.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1638" y="4015383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Costs global economy </a:t>
            </a:r>
            <a:r>
              <a:rPr lang="en-US" sz="1600" dirty="0">
                <a:solidFill>
                  <a:srgbClr val="FFE14D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4% of GDP</a:t>
            </a: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due to injuries, illnesses, and lost productivity.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280" y="1752481"/>
            <a:ext cx="6342102" cy="63421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3983"/>
            <a:ext cx="98286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Moral and Legal Imperative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463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Beyond the statistics, occupational safety is rooted in fundamental principles of ethics and law.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164443"/>
            <a:ext cx="4196358" cy="3681055"/>
          </a:xfrm>
          <a:prstGeom prst="roundRect">
            <a:avLst>
              <a:gd name="adj" fmla="val 2588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28224" y="339887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244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390" y="3547705"/>
            <a:ext cx="306110" cy="3826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8224" y="43061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Ethical Duty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8224" y="4796552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Protect workers’ lives and health — "It’s the right thing to do." We have a moral obligation to ensure everyone returns home safely.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164443"/>
            <a:ext cx="4196358" cy="3681055"/>
          </a:xfrm>
          <a:prstGeom prst="roundRect">
            <a:avLst>
              <a:gd name="adj" fmla="val 2588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451396" y="339887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244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562" y="3547705"/>
            <a:ext cx="306110" cy="3826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1396" y="4306133"/>
            <a:ext cx="31239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Legal Requirements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51396" y="4796552"/>
            <a:ext cx="37274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Employers must provide safe workplaces and comply with local, national, and international safety laws and regulations (e.g., OSHA in the US).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3164443"/>
            <a:ext cx="4196358" cy="3681055"/>
          </a:xfrm>
          <a:prstGeom prst="roundRect">
            <a:avLst>
              <a:gd name="adj" fmla="val 2588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874568" y="339887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244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1734" y="3547705"/>
            <a:ext cx="306110" cy="3826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4568" y="43061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Financial Impact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74568" y="4796552"/>
            <a:ext cx="37274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Accidents incur significant direct costs (medical care, insurance, repairs) and indirect costs (lost productivity, low morale, increased recruitment).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1069"/>
            <a:ext cx="93312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Common Workplace Hazards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9347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Workplaces present a variety of potential dangers that must be identified and controlled.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11529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5619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Physical Hazards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052411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Slips, trips, falls, machinery accidents, noise exposure, extreme temperatures, and electrical dangers.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2711529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6884" y="3561993"/>
            <a:ext cx="29036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Chemical Hazards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456884" y="4052411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Exposure to toxic, flammable, or corrosive substances; inhalation of fumes, gases, or dust.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231844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6082308"/>
            <a:ext cx="30947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Ergonomic Hazards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93790" y="6572726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Repetitive strain injuries, poor posture, inadequate workstation design, and manual handling issues.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6884" y="5231844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56884" y="6082308"/>
            <a:ext cx="35529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Psychological Hazards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456884" y="6572726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Work-related stress, fatigue, burnout, workplace violence, and bullying or harassment.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3425" y="911304"/>
            <a:ext cx="9964698" cy="654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4-Step Safety Process: S.A.F.E.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3425" y="1985248"/>
            <a:ext cx="1316355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 systematic approach to managing workplace risks is crucial for proactive safety.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2556272"/>
            <a:ext cx="6581775" cy="838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2975" y="3604022"/>
            <a:ext cx="261937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Spot the Hazard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942975" y="4057174"/>
            <a:ext cx="616267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Identify anything that can cause harm through regular inspections, risk assessments, and worker consultation.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556272"/>
            <a:ext cx="6581775" cy="838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24750" y="3604022"/>
            <a:ext cx="261937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Assess the Risk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7524750" y="4057174"/>
            <a:ext cx="616267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Evaluate how likely and severe the harm could be, considering factors like exposure and potential consequences.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4937284"/>
            <a:ext cx="6581775" cy="838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42975" y="5985034"/>
            <a:ext cx="261937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Fix the Problem</a:t>
            </a:r>
            <a:endParaRPr lang="en-US" sz="2050" dirty="0"/>
          </a:p>
        </p:txBody>
      </p:sp>
      <p:sp>
        <p:nvSpPr>
          <p:cNvPr id="12" name="Text 7"/>
          <p:cNvSpPr/>
          <p:nvPr/>
        </p:nvSpPr>
        <p:spPr>
          <a:xfrm>
            <a:off x="942975" y="6438186"/>
            <a:ext cx="616267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Implement controls using the hierarchy of controls: Eliminate, Substitute, Isolate, Engineer, Administrate, or use PPE.</a:t>
            </a:r>
            <a:endParaRPr lang="en-US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937284"/>
            <a:ext cx="6581775" cy="838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24750" y="5985034"/>
            <a:ext cx="261937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Evaluate Results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7524750" y="6438186"/>
            <a:ext cx="616267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Monitor and review the effectiveness of implemented solutions and adjust as needed to ensure ongoing safety.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2604"/>
            <a:ext cx="80550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Emergency Preparedness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9501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Being prepared for emergencies is vital for minimizing harm and ensuring swift response.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2968109"/>
            <a:ext cx="6407944" cy="30480"/>
          </a:xfrm>
          <a:prstGeom prst="rect">
            <a:avLst/>
          </a:prstGeom>
          <a:solidFill>
            <a:srgbClr val="2244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3790" y="3142417"/>
            <a:ext cx="46351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Understand Evacuation Plans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3632835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Know all evacuation routes, assembly points, and procedures for various emergencies like fire, chemical spills, or active threats.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968109"/>
            <a:ext cx="6408063" cy="30480"/>
          </a:xfrm>
          <a:prstGeom prst="rect">
            <a:avLst/>
          </a:prstGeom>
          <a:solidFill>
            <a:srgbClr val="2244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28548" y="3142417"/>
            <a:ext cx="28901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Participate in Drills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28548" y="3632835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Engage actively in regular emergency drills to practice responses and identify areas for improvement in procedures and individual actions.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473422"/>
            <a:ext cx="6407944" cy="30480"/>
          </a:xfrm>
          <a:prstGeom prst="rect">
            <a:avLst/>
          </a:prstGeom>
          <a:solidFill>
            <a:srgbClr val="2244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3790" y="5647730"/>
            <a:ext cx="33260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Immediate Reporting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93790" y="6138148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Report any incidents, near misses, or unusual observations immediately to supervisors or designated safety representatives.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8548" y="5473422"/>
            <a:ext cx="6408063" cy="30480"/>
          </a:xfrm>
          <a:prstGeom prst="rect">
            <a:avLst/>
          </a:prstGeom>
          <a:solidFill>
            <a:srgbClr val="2244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28548" y="5647730"/>
            <a:ext cx="49312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First Aid &amp; Emergency Contacts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28548" y="6138148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Be aware of first aid stations, emergency contact numbers, and personnel trained in first aid or emergency response.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95676"/>
            <a:ext cx="80488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Roles and Responsibilities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580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Safety is a shared responsibility, requiring active participation from everyone in the workplace.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76136"/>
            <a:ext cx="13042821" cy="3257669"/>
          </a:xfrm>
          <a:prstGeom prst="roundRect">
            <a:avLst>
              <a:gd name="adj" fmla="val 292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1410" y="3383756"/>
            <a:ext cx="13027581" cy="6417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8462" y="3527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Employers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31262" y="3527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Employees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30251" y="3527465"/>
            <a:ext cx="36209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Safety Representatives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01410" y="4025503"/>
            <a:ext cx="13027581" cy="260068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462" y="4169212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Provide comprehensive training.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28462" y="4600099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Ensure safe equipment.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28462" y="5030986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Enforce safety policies rigorously.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28462" y="5461873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Conduct regular risk assessments.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331262" y="4169212"/>
            <a:ext cx="38377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Follow all safety procedures.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5331262" y="4600099"/>
            <a:ext cx="38377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Consistently use required PPE.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5331262" y="5030986"/>
            <a:ext cx="383774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Report hazards and incidents promptly.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5331262" y="5824776"/>
            <a:ext cx="38377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Participate in safety training.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9630251" y="4169212"/>
            <a:ext cx="397192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Act as liaisons between management and workers.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630251" y="4963001"/>
            <a:ext cx="39719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Conduct regular safety inspections.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9630251" y="5393888"/>
            <a:ext cx="39719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Promote a strong safety culture.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9630251" y="5824776"/>
            <a:ext cx="397192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Investigate incidents and recommend improvements.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694</Words>
  <Application>Microsoft Office PowerPoint</Application>
  <PresentationFormat>Custom</PresentationFormat>
  <Paragraphs>78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Syne Bold</vt:lpstr>
      <vt:lpstr>Overpass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shafi uzzaman</cp:lastModifiedBy>
  <cp:revision>2</cp:revision>
  <dcterms:created xsi:type="dcterms:W3CDTF">2025-09-07T06:44:13Z</dcterms:created>
  <dcterms:modified xsi:type="dcterms:W3CDTF">2025-09-07T15:10:56Z</dcterms:modified>
</cp:coreProperties>
</file>
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Overpass Light" pitchFamily="2" charset="0"/>
      <p:regular r:id="rId13"/>
      <p:italic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7" d="100"/>
          <a:sy n="57" d="100"/>
        </p:scale>
        <p:origin x="80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2552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4BE"/>
          </a:solidFill>
          <a:ln/>
        </p:spPr>
      </p:sp>
      <p:sp>
        <p:nvSpPr>
          <p:cNvPr id="3" name="Shape 1"/>
          <p:cNvSpPr/>
          <p:nvPr/>
        </p:nvSpPr>
        <p:spPr>
          <a:xfrm>
            <a:off x="0" y="0"/>
            <a:ext cx="14630400" cy="8229600"/>
          </a:xfrm>
          <a:prstGeom prst="rect">
            <a:avLst/>
          </a:prstGeom>
          <a:solidFill>
            <a:srgbClr val="FFFDE6"/>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3028355"/>
            <a:ext cx="13042821" cy="1240155"/>
          </a:xfrm>
          <a:prstGeom prst="rect">
            <a:avLst/>
          </a:prstGeom>
          <a:noFill/>
          <a:ln/>
        </p:spPr>
        <p:txBody>
          <a:bodyPr wrap="square" lIns="0" tIns="0" rIns="0" bIns="0" rtlCol="0" anchor="t"/>
          <a:lstStyle/>
          <a:p>
            <a:pPr marL="0" indent="0" algn="l">
              <a:lnSpc>
                <a:spcPts val="4850"/>
              </a:lnSpc>
              <a:buNone/>
            </a:pPr>
            <a:r>
              <a:rPr lang="en-US" sz="3900" b="1" dirty="0">
                <a:solidFill>
                  <a:srgbClr val="233939"/>
                </a:solidFill>
                <a:latin typeface="Syne Bold" pitchFamily="34" charset="0"/>
                <a:ea typeface="Syne Bold" pitchFamily="34" charset="-122"/>
                <a:cs typeface="Syne Bold" pitchFamily="34" charset="-120"/>
              </a:rPr>
              <a:t>Robotics and Animatronics: Bringing Machines to Life</a:t>
            </a:r>
            <a:endParaRPr lang="en-US" sz="3900" dirty="0"/>
          </a:p>
        </p:txBody>
      </p:sp>
      <p:sp>
        <p:nvSpPr>
          <p:cNvPr id="3" name="Text 1"/>
          <p:cNvSpPr/>
          <p:nvPr/>
        </p:nvSpPr>
        <p:spPr>
          <a:xfrm>
            <a:off x="793790" y="4566166"/>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Explore the fascinating world where engineering meets artistry, as we delve into how robotics and animatronics create immersive experiences and solve complex problems.</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47661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33939"/>
                </a:solidFill>
                <a:latin typeface="Syne Bold" pitchFamily="34" charset="0"/>
                <a:ea typeface="Syne Bold" pitchFamily="34" charset="-122"/>
                <a:cs typeface="Syne Bold" pitchFamily="34" charset="-120"/>
              </a:rPr>
              <a:t>Introduction</a:t>
            </a:r>
            <a:endParaRPr lang="en-US" sz="1950" dirty="0"/>
          </a:p>
        </p:txBody>
      </p:sp>
      <p:sp>
        <p:nvSpPr>
          <p:cNvPr id="3" name="Text 1"/>
          <p:cNvSpPr/>
          <p:nvPr/>
        </p:nvSpPr>
        <p:spPr>
          <a:xfrm>
            <a:off x="793790" y="1985129"/>
            <a:ext cx="13042821" cy="1711642"/>
          </a:xfrm>
          <a:prstGeom prst="rect">
            <a:avLst/>
          </a:prstGeom>
          <a:noFill/>
          <a:ln/>
        </p:spPr>
        <p:txBody>
          <a:bodyPr wrap="square" lIns="0" tIns="0" rIns="0" bIns="0" rtlCol="0" anchor="t"/>
          <a:lstStyle/>
          <a:p>
            <a:pPr marL="0" indent="0" algn="l">
              <a:lnSpc>
                <a:spcPts val="6700"/>
              </a:lnSpc>
              <a:buNone/>
            </a:pPr>
            <a:r>
              <a:rPr lang="en-US" sz="5350" b="1" dirty="0">
                <a:solidFill>
                  <a:srgbClr val="233939"/>
                </a:solidFill>
                <a:latin typeface="Syne Bold" pitchFamily="34" charset="0"/>
                <a:ea typeface="Syne Bold" pitchFamily="34" charset="-122"/>
                <a:cs typeface="Syne Bold" pitchFamily="34" charset="-120"/>
              </a:rPr>
              <a:t>What Are Robotics and Animatronics?</a:t>
            </a:r>
            <a:endParaRPr lang="en-US" sz="5350" dirty="0"/>
          </a:p>
        </p:txBody>
      </p:sp>
      <p:sp>
        <p:nvSpPr>
          <p:cNvPr id="4" name="Text 2"/>
          <p:cNvSpPr/>
          <p:nvPr/>
        </p:nvSpPr>
        <p:spPr>
          <a:xfrm>
            <a:off x="793790" y="4173022"/>
            <a:ext cx="6279356" cy="1587698"/>
          </a:xfrm>
          <a:prstGeom prst="rect">
            <a:avLst/>
          </a:prstGeom>
          <a:noFill/>
          <a:ln/>
        </p:spPr>
        <p:txBody>
          <a:bodyPr wrap="square" lIns="0" tIns="0" rIns="0" bIns="0" rtlCol="0" anchor="t"/>
          <a:lstStyle/>
          <a:p>
            <a:pPr marL="0" indent="0" algn="l">
              <a:lnSpc>
                <a:spcPts val="2500"/>
              </a:lnSpc>
              <a:buNone/>
            </a:pPr>
            <a:r>
              <a:rPr lang="en-US" sz="1550" dirty="0">
                <a:solidFill>
                  <a:srgbClr val="224435"/>
                </a:solidFill>
                <a:latin typeface="Overpass Light" pitchFamily="34" charset="0"/>
                <a:ea typeface="Overpass Light" pitchFamily="34" charset="-122"/>
                <a:cs typeface="Overpass Light" pitchFamily="34" charset="-120"/>
              </a:rPr>
              <a:t>Robotics</a:t>
            </a:r>
            <a:r>
              <a:rPr lang="en-US" sz="1550" dirty="0">
                <a:solidFill>
                  <a:srgbClr val="3B4E4E"/>
                </a:solidFill>
                <a:latin typeface="Overpass Light" pitchFamily="34" charset="0"/>
                <a:ea typeface="Overpass Light" pitchFamily="34" charset="-122"/>
                <a:cs typeface="Overpass Light" pitchFamily="34" charset="-120"/>
              </a:rPr>
              <a:t> involves the design, construction, operation, and use of programmable machines to perform tasks autonomously or semi-autonomously. These machines, or robots, are found in diverse fields from manufacturing to space exploration, optimizing processes and executing tasks beyond human capability.</a:t>
            </a:r>
            <a:endParaRPr lang="en-US" sz="1550" dirty="0"/>
          </a:p>
        </p:txBody>
      </p:sp>
      <p:sp>
        <p:nvSpPr>
          <p:cNvPr id="5" name="Text 3"/>
          <p:cNvSpPr/>
          <p:nvPr/>
        </p:nvSpPr>
        <p:spPr>
          <a:xfrm>
            <a:off x="793790" y="5939314"/>
            <a:ext cx="6279356" cy="635079"/>
          </a:xfrm>
          <a:prstGeom prst="rect">
            <a:avLst/>
          </a:prstGeom>
          <a:noFill/>
          <a:ln/>
        </p:spPr>
        <p:txBody>
          <a:bodyPr wrap="square" lIns="0" tIns="0" rIns="0" bIns="0" rtlCol="0" anchor="t"/>
          <a:lstStyle/>
          <a:p>
            <a:pPr marL="0" indent="0" algn="l">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Robotics focuses on functionality, efficiency, and problem-solving through automation.</a:t>
            </a:r>
            <a:endParaRPr lang="en-US" sz="1550" dirty="0"/>
          </a:p>
        </p:txBody>
      </p:sp>
      <p:sp>
        <p:nvSpPr>
          <p:cNvPr id="6" name="Text 4"/>
          <p:cNvSpPr/>
          <p:nvPr/>
        </p:nvSpPr>
        <p:spPr>
          <a:xfrm>
            <a:off x="7564874" y="4173022"/>
            <a:ext cx="6279356" cy="1587698"/>
          </a:xfrm>
          <a:prstGeom prst="rect">
            <a:avLst/>
          </a:prstGeom>
          <a:noFill/>
          <a:ln/>
        </p:spPr>
        <p:txBody>
          <a:bodyPr wrap="square" lIns="0" tIns="0" rIns="0" bIns="0" rtlCol="0" anchor="t"/>
          <a:lstStyle/>
          <a:p>
            <a:pPr marL="0" indent="0" algn="l">
              <a:lnSpc>
                <a:spcPts val="2500"/>
              </a:lnSpc>
              <a:buNone/>
            </a:pPr>
            <a:r>
              <a:rPr lang="en-US" sz="1550" dirty="0">
                <a:solidFill>
                  <a:srgbClr val="224435"/>
                </a:solidFill>
                <a:latin typeface="Overpass Light" pitchFamily="34" charset="0"/>
                <a:ea typeface="Overpass Light" pitchFamily="34" charset="-122"/>
                <a:cs typeface="Overpass Light" pitchFamily="34" charset="-120"/>
              </a:rPr>
              <a:t>Animatronics</a:t>
            </a:r>
            <a:r>
              <a:rPr lang="en-US" sz="1550" dirty="0">
                <a:solidFill>
                  <a:srgbClr val="3B4E4E"/>
                </a:solidFill>
                <a:latin typeface="Overpass Light" pitchFamily="34" charset="0"/>
                <a:ea typeface="Overpass Light" pitchFamily="34" charset="-122"/>
                <a:cs typeface="Overpass Light" pitchFamily="34" charset="-120"/>
              </a:rPr>
              <a:t> is a specialized branch that combines robotics, mechatronics, and puppetry to create lifelike animated figures. The term itself gained prominence with Walt Disney's pioneering "Audio-Animatronics" technology in the 1960s, revolutionizing how characters could interact within immersive environments.</a:t>
            </a:r>
            <a:endParaRPr lang="en-US" sz="1550" dirty="0"/>
          </a:p>
        </p:txBody>
      </p:sp>
      <p:sp>
        <p:nvSpPr>
          <p:cNvPr id="7" name="Text 5"/>
          <p:cNvSpPr/>
          <p:nvPr/>
        </p:nvSpPr>
        <p:spPr>
          <a:xfrm>
            <a:off x="7564874" y="5939314"/>
            <a:ext cx="6279356" cy="635079"/>
          </a:xfrm>
          <a:prstGeom prst="rect">
            <a:avLst/>
          </a:prstGeom>
          <a:noFill/>
          <a:ln/>
        </p:spPr>
        <p:txBody>
          <a:bodyPr wrap="square" lIns="0" tIns="0" rIns="0" bIns="0" rtlCol="0" anchor="t"/>
          <a:lstStyle/>
          <a:p>
            <a:pPr marL="0" indent="0" algn="l">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Animatronics emphasizes realistic appearance and movement, often used for storytelling and entertainment.</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67687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33939"/>
                </a:solidFill>
                <a:latin typeface="Syne Bold" pitchFamily="34" charset="0"/>
                <a:ea typeface="Syne Bold" pitchFamily="34" charset="-122"/>
                <a:cs typeface="Syne Bold" pitchFamily="34" charset="-120"/>
              </a:rPr>
              <a:t>Historical Context</a:t>
            </a:r>
            <a:endParaRPr lang="en-US" sz="1950" dirty="0"/>
          </a:p>
        </p:txBody>
      </p:sp>
      <p:sp>
        <p:nvSpPr>
          <p:cNvPr id="3" name="Text 1"/>
          <p:cNvSpPr/>
          <p:nvPr/>
        </p:nvSpPr>
        <p:spPr>
          <a:xfrm>
            <a:off x="793790" y="1185386"/>
            <a:ext cx="13042821" cy="1711642"/>
          </a:xfrm>
          <a:prstGeom prst="rect">
            <a:avLst/>
          </a:prstGeom>
          <a:noFill/>
          <a:ln/>
        </p:spPr>
        <p:txBody>
          <a:bodyPr wrap="square" lIns="0" tIns="0" rIns="0" bIns="0" rtlCol="0" anchor="t"/>
          <a:lstStyle/>
          <a:p>
            <a:pPr marL="0" indent="0" algn="l">
              <a:lnSpc>
                <a:spcPts val="6700"/>
              </a:lnSpc>
              <a:buNone/>
            </a:pPr>
            <a:r>
              <a:rPr lang="en-US" sz="5350" b="1" dirty="0">
                <a:solidFill>
                  <a:srgbClr val="233939"/>
                </a:solidFill>
                <a:latin typeface="Syne Bold" pitchFamily="34" charset="0"/>
                <a:ea typeface="Syne Bold" pitchFamily="34" charset="-122"/>
                <a:cs typeface="Syne Bold" pitchFamily="34" charset="-120"/>
              </a:rPr>
              <a:t>The Origins: From Clockwork to Disney Magic</a:t>
            </a:r>
            <a:endParaRPr lang="en-US" sz="5350" dirty="0"/>
          </a:p>
        </p:txBody>
      </p:sp>
      <p:sp>
        <p:nvSpPr>
          <p:cNvPr id="4" name="Shape 2"/>
          <p:cNvSpPr/>
          <p:nvPr/>
        </p:nvSpPr>
        <p:spPr>
          <a:xfrm>
            <a:off x="7303770" y="3194685"/>
            <a:ext cx="22860" cy="4358045"/>
          </a:xfrm>
          <a:prstGeom prst="roundRect">
            <a:avLst>
              <a:gd name="adj" fmla="val 364651"/>
            </a:avLst>
          </a:prstGeom>
          <a:solidFill>
            <a:srgbClr val="C3D4CC"/>
          </a:solidFill>
          <a:ln/>
        </p:spPr>
        <p:txBody>
          <a:bodyPr/>
          <a:lstStyle/>
          <a:p>
            <a:endParaRPr lang="en-US"/>
          </a:p>
        </p:txBody>
      </p:sp>
      <p:sp>
        <p:nvSpPr>
          <p:cNvPr id="5" name="Shape 3"/>
          <p:cNvSpPr/>
          <p:nvPr/>
        </p:nvSpPr>
        <p:spPr>
          <a:xfrm>
            <a:off x="6519505" y="3406497"/>
            <a:ext cx="595313" cy="22860"/>
          </a:xfrm>
          <a:prstGeom prst="roundRect">
            <a:avLst>
              <a:gd name="adj" fmla="val 364651"/>
            </a:avLst>
          </a:prstGeom>
          <a:solidFill>
            <a:srgbClr val="C3D4CC"/>
          </a:solidFill>
          <a:ln/>
        </p:spPr>
        <p:txBody>
          <a:bodyPr/>
          <a:lstStyle/>
          <a:p>
            <a:endParaRPr lang="en-US"/>
          </a:p>
        </p:txBody>
      </p:sp>
      <p:sp>
        <p:nvSpPr>
          <p:cNvPr id="6" name="Shape 4"/>
          <p:cNvSpPr/>
          <p:nvPr/>
        </p:nvSpPr>
        <p:spPr>
          <a:xfrm>
            <a:off x="7091958" y="3194685"/>
            <a:ext cx="446484" cy="446484"/>
          </a:xfrm>
          <a:prstGeom prst="roundRect">
            <a:avLst>
              <a:gd name="adj" fmla="val 18670"/>
            </a:avLst>
          </a:prstGeom>
          <a:solidFill>
            <a:srgbClr val="DDEEE6"/>
          </a:solidFill>
          <a:ln w="7620">
            <a:solidFill>
              <a:srgbClr val="C3D4CC"/>
            </a:solidFill>
            <a:prstDash val="solid"/>
          </a:ln>
        </p:spPr>
        <p:txBody>
          <a:bodyPr/>
          <a:lstStyle/>
          <a:p>
            <a:endParaRPr lang="en-US"/>
          </a:p>
        </p:txBody>
      </p:sp>
      <p:sp>
        <p:nvSpPr>
          <p:cNvPr id="7" name="Text 5"/>
          <p:cNvSpPr/>
          <p:nvPr/>
        </p:nvSpPr>
        <p:spPr>
          <a:xfrm>
            <a:off x="7166372" y="3231892"/>
            <a:ext cx="297656" cy="372070"/>
          </a:xfrm>
          <a:prstGeom prst="rect">
            <a:avLst/>
          </a:prstGeom>
          <a:noFill/>
          <a:ln/>
        </p:spPr>
        <p:txBody>
          <a:bodyPr wrap="none" lIns="0" tIns="0" rIns="0" bIns="0" rtlCol="0" anchor="t"/>
          <a:lstStyle/>
          <a:p>
            <a:pPr marL="0" indent="0" algn="ctr">
              <a:lnSpc>
                <a:spcPts val="2300"/>
              </a:lnSpc>
              <a:buNone/>
            </a:pPr>
            <a:r>
              <a:rPr lang="en-US" sz="2300" b="1" dirty="0">
                <a:solidFill>
                  <a:srgbClr val="3B4E4E"/>
                </a:solidFill>
                <a:latin typeface="Syne Bold" pitchFamily="34" charset="0"/>
                <a:ea typeface="Syne Bold" pitchFamily="34" charset="-122"/>
                <a:cs typeface="Syne Bold" pitchFamily="34" charset="-120"/>
              </a:rPr>
              <a:t>1</a:t>
            </a:r>
            <a:endParaRPr lang="en-US" sz="2300" dirty="0"/>
          </a:p>
        </p:txBody>
      </p:sp>
      <p:sp>
        <p:nvSpPr>
          <p:cNvPr id="8" name="Text 6"/>
          <p:cNvSpPr/>
          <p:nvPr/>
        </p:nvSpPr>
        <p:spPr>
          <a:xfrm>
            <a:off x="3842028" y="3262908"/>
            <a:ext cx="2480905" cy="310158"/>
          </a:xfrm>
          <a:prstGeom prst="rect">
            <a:avLst/>
          </a:prstGeom>
          <a:noFill/>
          <a:ln/>
        </p:spPr>
        <p:txBody>
          <a:bodyPr wrap="none" lIns="0" tIns="0" rIns="0" bIns="0" rtlCol="0" anchor="t"/>
          <a:lstStyle/>
          <a:p>
            <a:pPr marL="0" indent="0" algn="r">
              <a:lnSpc>
                <a:spcPts val="2400"/>
              </a:lnSpc>
              <a:buNone/>
            </a:pPr>
            <a:r>
              <a:rPr lang="en-US" sz="1950" b="1" dirty="0">
                <a:solidFill>
                  <a:srgbClr val="3B4E4E"/>
                </a:solidFill>
                <a:latin typeface="Syne Bold" pitchFamily="34" charset="0"/>
                <a:ea typeface="Syne Bold" pitchFamily="34" charset="-122"/>
                <a:cs typeface="Syne Bold" pitchFamily="34" charset="-120"/>
              </a:rPr>
              <a:t>17th Century</a:t>
            </a:r>
            <a:endParaRPr lang="en-US" sz="1950" dirty="0"/>
          </a:p>
        </p:txBody>
      </p:sp>
      <p:sp>
        <p:nvSpPr>
          <p:cNvPr id="9" name="Text 7"/>
          <p:cNvSpPr/>
          <p:nvPr/>
        </p:nvSpPr>
        <p:spPr>
          <a:xfrm>
            <a:off x="793790" y="3692128"/>
            <a:ext cx="5529143" cy="1270159"/>
          </a:xfrm>
          <a:prstGeom prst="rect">
            <a:avLst/>
          </a:prstGeom>
          <a:noFill/>
          <a:ln/>
        </p:spPr>
        <p:txBody>
          <a:bodyPr wrap="square" lIns="0" tIns="0" rIns="0" bIns="0" rtlCol="0" anchor="t"/>
          <a:lstStyle/>
          <a:p>
            <a:pPr marL="0" indent="0" algn="r">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German clockmakers created intricate mechanical figures, precursors to modern animatronics, often appearing in cuckoo clocks and elaborate automata designed for entertainment and novelty.</a:t>
            </a:r>
            <a:endParaRPr lang="en-US" sz="1550" dirty="0"/>
          </a:p>
        </p:txBody>
      </p:sp>
      <p:sp>
        <p:nvSpPr>
          <p:cNvPr id="10" name="Shape 8"/>
          <p:cNvSpPr/>
          <p:nvPr/>
        </p:nvSpPr>
        <p:spPr>
          <a:xfrm>
            <a:off x="7515582" y="4597122"/>
            <a:ext cx="595313" cy="22860"/>
          </a:xfrm>
          <a:prstGeom prst="roundRect">
            <a:avLst>
              <a:gd name="adj" fmla="val 364651"/>
            </a:avLst>
          </a:prstGeom>
          <a:solidFill>
            <a:srgbClr val="C3D4CC"/>
          </a:solidFill>
          <a:ln/>
        </p:spPr>
        <p:txBody>
          <a:bodyPr/>
          <a:lstStyle/>
          <a:p>
            <a:endParaRPr lang="en-US"/>
          </a:p>
        </p:txBody>
      </p:sp>
      <p:sp>
        <p:nvSpPr>
          <p:cNvPr id="11" name="Shape 9"/>
          <p:cNvSpPr/>
          <p:nvPr/>
        </p:nvSpPr>
        <p:spPr>
          <a:xfrm>
            <a:off x="7091958" y="4385310"/>
            <a:ext cx="446484" cy="446484"/>
          </a:xfrm>
          <a:prstGeom prst="roundRect">
            <a:avLst>
              <a:gd name="adj" fmla="val 18670"/>
            </a:avLst>
          </a:prstGeom>
          <a:solidFill>
            <a:srgbClr val="DDEEE6"/>
          </a:solidFill>
          <a:ln w="7620">
            <a:solidFill>
              <a:srgbClr val="C3D4CC"/>
            </a:solidFill>
            <a:prstDash val="solid"/>
          </a:ln>
        </p:spPr>
        <p:txBody>
          <a:bodyPr/>
          <a:lstStyle/>
          <a:p>
            <a:endParaRPr lang="en-US"/>
          </a:p>
        </p:txBody>
      </p:sp>
      <p:sp>
        <p:nvSpPr>
          <p:cNvPr id="12" name="Text 10"/>
          <p:cNvSpPr/>
          <p:nvPr/>
        </p:nvSpPr>
        <p:spPr>
          <a:xfrm>
            <a:off x="7166372" y="4422517"/>
            <a:ext cx="297656" cy="372070"/>
          </a:xfrm>
          <a:prstGeom prst="rect">
            <a:avLst/>
          </a:prstGeom>
          <a:noFill/>
          <a:ln/>
        </p:spPr>
        <p:txBody>
          <a:bodyPr wrap="none" lIns="0" tIns="0" rIns="0" bIns="0" rtlCol="0" anchor="t"/>
          <a:lstStyle/>
          <a:p>
            <a:pPr marL="0" indent="0" algn="ctr">
              <a:lnSpc>
                <a:spcPts val="2300"/>
              </a:lnSpc>
              <a:buNone/>
            </a:pPr>
            <a:r>
              <a:rPr lang="en-US" sz="2300" b="1" dirty="0">
                <a:solidFill>
                  <a:srgbClr val="3B4E4E"/>
                </a:solidFill>
                <a:latin typeface="Syne Bold" pitchFamily="34" charset="0"/>
                <a:ea typeface="Syne Bold" pitchFamily="34" charset="-122"/>
                <a:cs typeface="Syne Bold" pitchFamily="34" charset="-120"/>
              </a:rPr>
              <a:t>2</a:t>
            </a:r>
            <a:endParaRPr lang="en-US" sz="2300" dirty="0"/>
          </a:p>
        </p:txBody>
      </p:sp>
      <p:sp>
        <p:nvSpPr>
          <p:cNvPr id="13" name="Text 11"/>
          <p:cNvSpPr/>
          <p:nvPr/>
        </p:nvSpPr>
        <p:spPr>
          <a:xfrm>
            <a:off x="8307467" y="445353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B4E4E"/>
                </a:solidFill>
                <a:latin typeface="Syne Bold" pitchFamily="34" charset="0"/>
                <a:ea typeface="Syne Bold" pitchFamily="34" charset="-122"/>
                <a:cs typeface="Syne Bold" pitchFamily="34" charset="-120"/>
              </a:rPr>
              <a:t>1963</a:t>
            </a:r>
            <a:endParaRPr lang="en-US" sz="1950" dirty="0"/>
          </a:p>
        </p:txBody>
      </p:sp>
      <p:sp>
        <p:nvSpPr>
          <p:cNvPr id="14" name="Text 12"/>
          <p:cNvSpPr/>
          <p:nvPr/>
        </p:nvSpPr>
        <p:spPr>
          <a:xfrm>
            <a:off x="8307467" y="4882753"/>
            <a:ext cx="5529143" cy="1587698"/>
          </a:xfrm>
          <a:prstGeom prst="rect">
            <a:avLst/>
          </a:prstGeom>
          <a:noFill/>
          <a:ln/>
        </p:spPr>
        <p:txBody>
          <a:bodyPr wrap="square" lIns="0" tIns="0" rIns="0" bIns="0" rtlCol="0" anchor="t"/>
          <a:lstStyle/>
          <a:p>
            <a:pPr marL="0" indent="0" algn="l">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Walt Disney’s Enchanted Tiki Room opened, debuting the first Audio-Animatronics. This groundbreaking attraction featured singing birds, flowers, and tikis, synchronized to music and dialogue, setting a new standard for theme park entertainment.</a:t>
            </a:r>
            <a:endParaRPr lang="en-US" sz="1550" dirty="0"/>
          </a:p>
        </p:txBody>
      </p:sp>
      <p:sp>
        <p:nvSpPr>
          <p:cNvPr id="15" name="Shape 13"/>
          <p:cNvSpPr/>
          <p:nvPr/>
        </p:nvSpPr>
        <p:spPr>
          <a:xfrm>
            <a:off x="6519505" y="5838111"/>
            <a:ext cx="595313" cy="22860"/>
          </a:xfrm>
          <a:prstGeom prst="roundRect">
            <a:avLst>
              <a:gd name="adj" fmla="val 364651"/>
            </a:avLst>
          </a:prstGeom>
          <a:solidFill>
            <a:srgbClr val="C3D4CC"/>
          </a:solidFill>
          <a:ln/>
        </p:spPr>
        <p:txBody>
          <a:bodyPr/>
          <a:lstStyle/>
          <a:p>
            <a:endParaRPr lang="en-US"/>
          </a:p>
        </p:txBody>
      </p:sp>
      <p:sp>
        <p:nvSpPr>
          <p:cNvPr id="16" name="Shape 14"/>
          <p:cNvSpPr/>
          <p:nvPr/>
        </p:nvSpPr>
        <p:spPr>
          <a:xfrm>
            <a:off x="7091958" y="5626298"/>
            <a:ext cx="446484" cy="446484"/>
          </a:xfrm>
          <a:prstGeom prst="roundRect">
            <a:avLst>
              <a:gd name="adj" fmla="val 18670"/>
            </a:avLst>
          </a:prstGeom>
          <a:solidFill>
            <a:srgbClr val="DDEEE6"/>
          </a:solidFill>
          <a:ln w="7620">
            <a:solidFill>
              <a:srgbClr val="C3D4CC"/>
            </a:solidFill>
            <a:prstDash val="solid"/>
          </a:ln>
        </p:spPr>
        <p:txBody>
          <a:bodyPr/>
          <a:lstStyle/>
          <a:p>
            <a:endParaRPr lang="en-US"/>
          </a:p>
        </p:txBody>
      </p:sp>
      <p:sp>
        <p:nvSpPr>
          <p:cNvPr id="17" name="Text 15"/>
          <p:cNvSpPr/>
          <p:nvPr/>
        </p:nvSpPr>
        <p:spPr>
          <a:xfrm>
            <a:off x="7166372" y="5663505"/>
            <a:ext cx="297656" cy="372070"/>
          </a:xfrm>
          <a:prstGeom prst="rect">
            <a:avLst/>
          </a:prstGeom>
          <a:noFill/>
          <a:ln/>
        </p:spPr>
        <p:txBody>
          <a:bodyPr wrap="none" lIns="0" tIns="0" rIns="0" bIns="0" rtlCol="0" anchor="t"/>
          <a:lstStyle/>
          <a:p>
            <a:pPr marL="0" indent="0" algn="ctr">
              <a:lnSpc>
                <a:spcPts val="2300"/>
              </a:lnSpc>
              <a:buNone/>
            </a:pPr>
            <a:r>
              <a:rPr lang="en-US" sz="2300" b="1" dirty="0">
                <a:solidFill>
                  <a:srgbClr val="3B4E4E"/>
                </a:solidFill>
                <a:latin typeface="Syne Bold" pitchFamily="34" charset="0"/>
                <a:ea typeface="Syne Bold" pitchFamily="34" charset="-122"/>
                <a:cs typeface="Syne Bold" pitchFamily="34" charset="-120"/>
              </a:rPr>
              <a:t>3</a:t>
            </a:r>
            <a:endParaRPr lang="en-US" sz="2300" dirty="0"/>
          </a:p>
        </p:txBody>
      </p:sp>
      <p:sp>
        <p:nvSpPr>
          <p:cNvPr id="18" name="Text 16"/>
          <p:cNvSpPr/>
          <p:nvPr/>
        </p:nvSpPr>
        <p:spPr>
          <a:xfrm>
            <a:off x="3842028" y="5694521"/>
            <a:ext cx="2480905" cy="310158"/>
          </a:xfrm>
          <a:prstGeom prst="rect">
            <a:avLst/>
          </a:prstGeom>
          <a:noFill/>
          <a:ln/>
        </p:spPr>
        <p:txBody>
          <a:bodyPr wrap="none" lIns="0" tIns="0" rIns="0" bIns="0" rtlCol="0" anchor="t"/>
          <a:lstStyle/>
          <a:p>
            <a:pPr marL="0" indent="0" algn="r">
              <a:lnSpc>
                <a:spcPts val="2400"/>
              </a:lnSpc>
              <a:buNone/>
            </a:pPr>
            <a:r>
              <a:rPr lang="en-US" sz="1950" b="1" dirty="0">
                <a:solidFill>
                  <a:srgbClr val="3B4E4E"/>
                </a:solidFill>
                <a:latin typeface="Syne Bold" pitchFamily="34" charset="0"/>
                <a:ea typeface="Syne Bold" pitchFamily="34" charset="-122"/>
                <a:cs typeface="Syne Bold" pitchFamily="34" charset="-120"/>
              </a:rPr>
              <a:t>1964 World’s Fair</a:t>
            </a:r>
            <a:endParaRPr lang="en-US" sz="1950" dirty="0"/>
          </a:p>
        </p:txBody>
      </p:sp>
      <p:sp>
        <p:nvSpPr>
          <p:cNvPr id="19" name="Text 17"/>
          <p:cNvSpPr/>
          <p:nvPr/>
        </p:nvSpPr>
        <p:spPr>
          <a:xfrm>
            <a:off x="793790" y="6123742"/>
            <a:ext cx="5529143" cy="1270159"/>
          </a:xfrm>
          <a:prstGeom prst="rect">
            <a:avLst/>
          </a:prstGeom>
          <a:noFill/>
          <a:ln/>
        </p:spPr>
        <p:txBody>
          <a:bodyPr wrap="square" lIns="0" tIns="0" rIns="0" bIns="0" rtlCol="0" anchor="t"/>
          <a:lstStyle/>
          <a:p>
            <a:pPr marL="0" indent="0" algn="r">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The Abraham Lincoln animatronic captivated audiences, marking the first human figure with fully synchronized speech and movement. This figure delivered speeches, demonstrating a leap in lifelike robotic performance.</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70485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33939"/>
                </a:solidFill>
                <a:latin typeface="Syne Bold" pitchFamily="34" charset="0"/>
                <a:ea typeface="Syne Bold" pitchFamily="34" charset="-122"/>
                <a:cs typeface="Syne Bold" pitchFamily="34" charset="-120"/>
              </a:rPr>
              <a:t>Crafting Realism</a:t>
            </a:r>
            <a:endParaRPr lang="en-US" sz="1950" dirty="0"/>
          </a:p>
        </p:txBody>
      </p:sp>
      <p:sp>
        <p:nvSpPr>
          <p:cNvPr id="3" name="Text 1"/>
          <p:cNvSpPr/>
          <p:nvPr/>
        </p:nvSpPr>
        <p:spPr>
          <a:xfrm>
            <a:off x="793790" y="1213366"/>
            <a:ext cx="13042821" cy="1711642"/>
          </a:xfrm>
          <a:prstGeom prst="rect">
            <a:avLst/>
          </a:prstGeom>
          <a:noFill/>
          <a:ln/>
        </p:spPr>
        <p:txBody>
          <a:bodyPr wrap="square" lIns="0" tIns="0" rIns="0" bIns="0" rtlCol="0" anchor="t"/>
          <a:lstStyle/>
          <a:p>
            <a:pPr marL="0" indent="0" algn="l">
              <a:lnSpc>
                <a:spcPts val="6700"/>
              </a:lnSpc>
              <a:buNone/>
            </a:pPr>
            <a:r>
              <a:rPr lang="en-US" sz="5350" b="1" dirty="0">
                <a:solidFill>
                  <a:srgbClr val="233939"/>
                </a:solidFill>
                <a:latin typeface="Syne Bold" pitchFamily="34" charset="0"/>
                <a:ea typeface="Syne Bold" pitchFamily="34" charset="-122"/>
                <a:cs typeface="Syne Bold" pitchFamily="34" charset="-120"/>
              </a:rPr>
              <a:t>How Animatronics Are Made: The Creative Process</a:t>
            </a:r>
            <a:endParaRPr lang="en-US" sz="5350" dirty="0"/>
          </a:p>
        </p:txBody>
      </p:sp>
      <p:sp>
        <p:nvSpPr>
          <p:cNvPr id="4" name="Text 2"/>
          <p:cNvSpPr/>
          <p:nvPr/>
        </p:nvSpPr>
        <p:spPr>
          <a:xfrm>
            <a:off x="793790" y="3222665"/>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3B4E4E"/>
                </a:solidFill>
                <a:latin typeface="Syne Light" pitchFamily="34" charset="0"/>
                <a:ea typeface="Syne Light" pitchFamily="34" charset="-122"/>
                <a:cs typeface="Syne Light" pitchFamily="34" charset="-120"/>
              </a:rPr>
              <a:t>01</a:t>
            </a:r>
            <a:endParaRPr lang="en-US" sz="1550" dirty="0"/>
          </a:p>
        </p:txBody>
      </p:sp>
      <p:sp>
        <p:nvSpPr>
          <p:cNvPr id="5" name="Shape 3"/>
          <p:cNvSpPr/>
          <p:nvPr/>
        </p:nvSpPr>
        <p:spPr>
          <a:xfrm>
            <a:off x="793790" y="3536990"/>
            <a:ext cx="6422231" cy="22860"/>
          </a:xfrm>
          <a:prstGeom prst="rect">
            <a:avLst/>
          </a:prstGeom>
          <a:solidFill>
            <a:srgbClr val="224435"/>
          </a:solidFill>
          <a:ln/>
        </p:spPr>
        <p:txBody>
          <a:bodyPr/>
          <a:lstStyle/>
          <a:p>
            <a:endParaRPr lang="en-US"/>
          </a:p>
        </p:txBody>
      </p:sp>
      <p:sp>
        <p:nvSpPr>
          <p:cNvPr id="6" name="Text 4"/>
          <p:cNvSpPr/>
          <p:nvPr/>
        </p:nvSpPr>
        <p:spPr>
          <a:xfrm>
            <a:off x="793790" y="3681889"/>
            <a:ext cx="4525566" cy="372070"/>
          </a:xfrm>
          <a:prstGeom prst="rect">
            <a:avLst/>
          </a:prstGeom>
          <a:noFill/>
          <a:ln/>
        </p:spPr>
        <p:txBody>
          <a:bodyPr wrap="none" lIns="0" tIns="0" rIns="0" bIns="0" rtlCol="0" anchor="t"/>
          <a:lstStyle/>
          <a:p>
            <a:pPr marL="0" indent="0" algn="l">
              <a:lnSpc>
                <a:spcPts val="2900"/>
              </a:lnSpc>
              <a:buNone/>
            </a:pPr>
            <a:r>
              <a:rPr lang="en-US" sz="2300" b="1" dirty="0">
                <a:solidFill>
                  <a:srgbClr val="3B4E4E"/>
                </a:solidFill>
                <a:latin typeface="Syne Bold" pitchFamily="34" charset="0"/>
                <a:ea typeface="Syne Bold" pitchFamily="34" charset="-122"/>
                <a:cs typeface="Syne Bold" pitchFamily="34" charset="-120"/>
              </a:rPr>
              <a:t>Design &amp; Conceptualization</a:t>
            </a:r>
            <a:endParaRPr lang="en-US" sz="2300" dirty="0"/>
          </a:p>
        </p:txBody>
      </p:sp>
      <p:sp>
        <p:nvSpPr>
          <p:cNvPr id="7" name="Text 5"/>
          <p:cNvSpPr/>
          <p:nvPr/>
        </p:nvSpPr>
        <p:spPr>
          <a:xfrm>
            <a:off x="793790" y="4173022"/>
            <a:ext cx="6422231" cy="952619"/>
          </a:xfrm>
          <a:prstGeom prst="rect">
            <a:avLst/>
          </a:prstGeom>
          <a:noFill/>
          <a:ln/>
        </p:spPr>
        <p:txBody>
          <a:bodyPr wrap="square" lIns="0" tIns="0" rIns="0" bIns="0" rtlCol="0" anchor="t"/>
          <a:lstStyle/>
          <a:p>
            <a:pPr marL="0" indent="0" algn="l">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The process begins with collaborative client and engineering discussions to define the character's purpose, appearance, and range of movements. Detailed sketches and digital models are created.</a:t>
            </a:r>
            <a:endParaRPr lang="en-US" sz="1550" dirty="0"/>
          </a:p>
        </p:txBody>
      </p:sp>
      <p:sp>
        <p:nvSpPr>
          <p:cNvPr id="8" name="Text 6"/>
          <p:cNvSpPr/>
          <p:nvPr/>
        </p:nvSpPr>
        <p:spPr>
          <a:xfrm>
            <a:off x="7414379" y="3222665"/>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3B4E4E"/>
                </a:solidFill>
                <a:latin typeface="Syne Light" pitchFamily="34" charset="0"/>
                <a:ea typeface="Syne Light" pitchFamily="34" charset="-122"/>
                <a:cs typeface="Syne Light" pitchFamily="34" charset="-120"/>
              </a:rPr>
              <a:t>02</a:t>
            </a:r>
            <a:endParaRPr lang="en-US" sz="1550" dirty="0"/>
          </a:p>
        </p:txBody>
      </p:sp>
      <p:sp>
        <p:nvSpPr>
          <p:cNvPr id="9" name="Shape 7"/>
          <p:cNvSpPr/>
          <p:nvPr/>
        </p:nvSpPr>
        <p:spPr>
          <a:xfrm>
            <a:off x="7414379" y="3536990"/>
            <a:ext cx="6422231" cy="22860"/>
          </a:xfrm>
          <a:prstGeom prst="rect">
            <a:avLst/>
          </a:prstGeom>
          <a:solidFill>
            <a:srgbClr val="224435"/>
          </a:solidFill>
          <a:ln/>
        </p:spPr>
        <p:txBody>
          <a:bodyPr/>
          <a:lstStyle/>
          <a:p>
            <a:endParaRPr lang="en-US"/>
          </a:p>
        </p:txBody>
      </p:sp>
      <p:sp>
        <p:nvSpPr>
          <p:cNvPr id="10" name="Text 8"/>
          <p:cNvSpPr/>
          <p:nvPr/>
        </p:nvSpPr>
        <p:spPr>
          <a:xfrm>
            <a:off x="7414379" y="3681889"/>
            <a:ext cx="4034076" cy="372070"/>
          </a:xfrm>
          <a:prstGeom prst="rect">
            <a:avLst/>
          </a:prstGeom>
          <a:noFill/>
          <a:ln/>
        </p:spPr>
        <p:txBody>
          <a:bodyPr wrap="none" lIns="0" tIns="0" rIns="0" bIns="0" rtlCol="0" anchor="t"/>
          <a:lstStyle/>
          <a:p>
            <a:pPr marL="0" indent="0" algn="l">
              <a:lnSpc>
                <a:spcPts val="2900"/>
              </a:lnSpc>
              <a:buNone/>
            </a:pPr>
            <a:r>
              <a:rPr lang="en-US" sz="2300" b="1" dirty="0">
                <a:solidFill>
                  <a:srgbClr val="3B4E4E"/>
                </a:solidFill>
                <a:latin typeface="Syne Bold" pitchFamily="34" charset="0"/>
                <a:ea typeface="Syne Bold" pitchFamily="34" charset="-122"/>
                <a:cs typeface="Syne Bold" pitchFamily="34" charset="-120"/>
              </a:rPr>
              <a:t>Sculpting &amp; Mold Making</a:t>
            </a:r>
            <a:endParaRPr lang="en-US" sz="2300" dirty="0"/>
          </a:p>
        </p:txBody>
      </p:sp>
      <p:sp>
        <p:nvSpPr>
          <p:cNvPr id="11" name="Text 9"/>
          <p:cNvSpPr/>
          <p:nvPr/>
        </p:nvSpPr>
        <p:spPr>
          <a:xfrm>
            <a:off x="7414379" y="4173022"/>
            <a:ext cx="6422231" cy="952619"/>
          </a:xfrm>
          <a:prstGeom prst="rect">
            <a:avLst/>
          </a:prstGeom>
          <a:noFill/>
          <a:ln/>
        </p:spPr>
        <p:txBody>
          <a:bodyPr wrap="square" lIns="0" tIns="0" rIns="0" bIns="0" rtlCol="0" anchor="t"/>
          <a:lstStyle/>
          <a:p>
            <a:pPr marL="0" indent="0" algn="l">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Two-dimensional concepts are transformed into three-dimensional forms, often sculpted by hand or using digital carving tools. Molds are then created to produce flexible skin components from silicone or latex.</a:t>
            </a:r>
            <a:endParaRPr lang="en-US" sz="1550" dirty="0"/>
          </a:p>
        </p:txBody>
      </p:sp>
      <p:sp>
        <p:nvSpPr>
          <p:cNvPr id="12" name="Text 10"/>
          <p:cNvSpPr/>
          <p:nvPr/>
        </p:nvSpPr>
        <p:spPr>
          <a:xfrm>
            <a:off x="793790" y="5472827"/>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3B4E4E"/>
                </a:solidFill>
                <a:latin typeface="Syne Light" pitchFamily="34" charset="0"/>
                <a:ea typeface="Syne Light" pitchFamily="34" charset="-122"/>
                <a:cs typeface="Syne Light" pitchFamily="34" charset="-120"/>
              </a:rPr>
              <a:t>03</a:t>
            </a:r>
            <a:endParaRPr lang="en-US" sz="1550" dirty="0"/>
          </a:p>
        </p:txBody>
      </p:sp>
      <p:sp>
        <p:nvSpPr>
          <p:cNvPr id="13" name="Shape 11"/>
          <p:cNvSpPr/>
          <p:nvPr/>
        </p:nvSpPr>
        <p:spPr>
          <a:xfrm>
            <a:off x="793790" y="5787152"/>
            <a:ext cx="6422231" cy="22860"/>
          </a:xfrm>
          <a:prstGeom prst="rect">
            <a:avLst/>
          </a:prstGeom>
          <a:solidFill>
            <a:srgbClr val="224435"/>
          </a:solidFill>
          <a:ln/>
        </p:spPr>
        <p:txBody>
          <a:bodyPr/>
          <a:lstStyle/>
          <a:p>
            <a:endParaRPr lang="en-US"/>
          </a:p>
        </p:txBody>
      </p:sp>
      <p:sp>
        <p:nvSpPr>
          <p:cNvPr id="14" name="Text 12"/>
          <p:cNvSpPr/>
          <p:nvPr/>
        </p:nvSpPr>
        <p:spPr>
          <a:xfrm>
            <a:off x="793790" y="5932051"/>
            <a:ext cx="3516630" cy="372070"/>
          </a:xfrm>
          <a:prstGeom prst="rect">
            <a:avLst/>
          </a:prstGeom>
          <a:noFill/>
          <a:ln/>
        </p:spPr>
        <p:txBody>
          <a:bodyPr wrap="none" lIns="0" tIns="0" rIns="0" bIns="0" rtlCol="0" anchor="t"/>
          <a:lstStyle/>
          <a:p>
            <a:pPr marL="0" indent="0" algn="l">
              <a:lnSpc>
                <a:spcPts val="2900"/>
              </a:lnSpc>
              <a:buNone/>
            </a:pPr>
            <a:r>
              <a:rPr lang="en-US" sz="2300" b="1" dirty="0">
                <a:solidFill>
                  <a:srgbClr val="3B4E4E"/>
                </a:solidFill>
                <a:latin typeface="Syne Bold" pitchFamily="34" charset="0"/>
                <a:ea typeface="Syne Bold" pitchFamily="34" charset="-122"/>
                <a:cs typeface="Syne Bold" pitchFamily="34" charset="-120"/>
              </a:rPr>
              <a:t>Armature Fabrication</a:t>
            </a:r>
            <a:endParaRPr lang="en-US" sz="2300" dirty="0"/>
          </a:p>
        </p:txBody>
      </p:sp>
      <p:sp>
        <p:nvSpPr>
          <p:cNvPr id="15" name="Text 13"/>
          <p:cNvSpPr/>
          <p:nvPr/>
        </p:nvSpPr>
        <p:spPr>
          <a:xfrm>
            <a:off x="793790" y="6423184"/>
            <a:ext cx="6422231" cy="952619"/>
          </a:xfrm>
          <a:prstGeom prst="rect">
            <a:avLst/>
          </a:prstGeom>
          <a:noFill/>
          <a:ln/>
        </p:spPr>
        <p:txBody>
          <a:bodyPr wrap="square" lIns="0" tIns="0" rIns="0" bIns="0" rtlCol="0" anchor="t"/>
          <a:lstStyle/>
          <a:p>
            <a:pPr marL="0" indent="0" algn="l">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Beneath the skin, a sophisticated metal skeleton (armature) is built. This framework houses the mechanical and electronic components, allowing for realistic, fluid motion.</a:t>
            </a:r>
            <a:endParaRPr lang="en-US" sz="1550" dirty="0"/>
          </a:p>
        </p:txBody>
      </p:sp>
      <p:sp>
        <p:nvSpPr>
          <p:cNvPr id="16" name="Text 14"/>
          <p:cNvSpPr/>
          <p:nvPr/>
        </p:nvSpPr>
        <p:spPr>
          <a:xfrm>
            <a:off x="7414379" y="5472827"/>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3B4E4E"/>
                </a:solidFill>
                <a:latin typeface="Syne Light" pitchFamily="34" charset="0"/>
                <a:ea typeface="Syne Light" pitchFamily="34" charset="-122"/>
                <a:cs typeface="Syne Light" pitchFamily="34" charset="-120"/>
              </a:rPr>
              <a:t>04</a:t>
            </a:r>
            <a:endParaRPr lang="en-US" sz="1550" dirty="0"/>
          </a:p>
        </p:txBody>
      </p:sp>
      <p:sp>
        <p:nvSpPr>
          <p:cNvPr id="17" name="Shape 15"/>
          <p:cNvSpPr/>
          <p:nvPr/>
        </p:nvSpPr>
        <p:spPr>
          <a:xfrm>
            <a:off x="7414379" y="5787152"/>
            <a:ext cx="6422231" cy="22860"/>
          </a:xfrm>
          <a:prstGeom prst="rect">
            <a:avLst/>
          </a:prstGeom>
          <a:solidFill>
            <a:srgbClr val="224435"/>
          </a:solidFill>
          <a:ln/>
        </p:spPr>
        <p:txBody>
          <a:bodyPr/>
          <a:lstStyle/>
          <a:p>
            <a:endParaRPr lang="en-US"/>
          </a:p>
        </p:txBody>
      </p:sp>
      <p:sp>
        <p:nvSpPr>
          <p:cNvPr id="18" name="Text 16"/>
          <p:cNvSpPr/>
          <p:nvPr/>
        </p:nvSpPr>
        <p:spPr>
          <a:xfrm>
            <a:off x="7414379" y="5932051"/>
            <a:ext cx="4424482" cy="372070"/>
          </a:xfrm>
          <a:prstGeom prst="rect">
            <a:avLst/>
          </a:prstGeom>
          <a:noFill/>
          <a:ln/>
        </p:spPr>
        <p:txBody>
          <a:bodyPr wrap="none" lIns="0" tIns="0" rIns="0" bIns="0" rtlCol="0" anchor="t"/>
          <a:lstStyle/>
          <a:p>
            <a:pPr marL="0" indent="0" algn="l">
              <a:lnSpc>
                <a:spcPts val="2900"/>
              </a:lnSpc>
              <a:buNone/>
            </a:pPr>
            <a:r>
              <a:rPr lang="en-US" sz="2300" b="1" dirty="0">
                <a:solidFill>
                  <a:srgbClr val="3B4E4E"/>
                </a:solidFill>
                <a:latin typeface="Syne Bold" pitchFamily="34" charset="0"/>
                <a:ea typeface="Syne Bold" pitchFamily="34" charset="-122"/>
                <a:cs typeface="Syne Bold" pitchFamily="34" charset="-120"/>
              </a:rPr>
              <a:t>Costuming &amp; Programming</a:t>
            </a:r>
            <a:endParaRPr lang="en-US" sz="2300" dirty="0"/>
          </a:p>
        </p:txBody>
      </p:sp>
      <p:sp>
        <p:nvSpPr>
          <p:cNvPr id="19" name="Text 17"/>
          <p:cNvSpPr/>
          <p:nvPr/>
        </p:nvSpPr>
        <p:spPr>
          <a:xfrm>
            <a:off x="7414379" y="6423184"/>
            <a:ext cx="6422231" cy="952619"/>
          </a:xfrm>
          <a:prstGeom prst="rect">
            <a:avLst/>
          </a:prstGeom>
          <a:noFill/>
          <a:ln/>
        </p:spPr>
        <p:txBody>
          <a:bodyPr wrap="square" lIns="0" tIns="0" rIns="0" bIns="0" rtlCol="0" anchor="t"/>
          <a:lstStyle/>
          <a:p>
            <a:pPr marL="0" indent="0" algn="l">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Finally, tailored costumes and intricate control software bring the character to life. Precise programming synchronizes movements, sound, and even facial expressions for a seamless, lifelike performance.</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45569" y="512564"/>
            <a:ext cx="2808923" cy="291227"/>
          </a:xfrm>
          <a:prstGeom prst="rect">
            <a:avLst/>
          </a:prstGeom>
          <a:noFill/>
          <a:ln/>
        </p:spPr>
        <p:txBody>
          <a:bodyPr wrap="none" lIns="0" tIns="0" rIns="0" bIns="0" rtlCol="0" anchor="t"/>
          <a:lstStyle/>
          <a:p>
            <a:pPr marL="0" indent="0" algn="l">
              <a:lnSpc>
                <a:spcPts val="2250"/>
              </a:lnSpc>
              <a:buNone/>
            </a:pPr>
            <a:r>
              <a:rPr lang="en-US" sz="1800" b="1" dirty="0">
                <a:solidFill>
                  <a:srgbClr val="233939"/>
                </a:solidFill>
                <a:latin typeface="Syne Bold" pitchFamily="34" charset="0"/>
                <a:ea typeface="Syne Bold" pitchFamily="34" charset="-122"/>
                <a:cs typeface="Syne Bold" pitchFamily="34" charset="-120"/>
              </a:rPr>
              <a:t>Engineering Principles</a:t>
            </a:r>
            <a:endParaRPr lang="en-US" sz="1800" dirty="0"/>
          </a:p>
        </p:txBody>
      </p:sp>
      <p:sp>
        <p:nvSpPr>
          <p:cNvPr id="3" name="Text 1"/>
          <p:cNvSpPr/>
          <p:nvPr/>
        </p:nvSpPr>
        <p:spPr>
          <a:xfrm>
            <a:off x="745569" y="990124"/>
            <a:ext cx="10440710" cy="803791"/>
          </a:xfrm>
          <a:prstGeom prst="rect">
            <a:avLst/>
          </a:prstGeom>
          <a:noFill/>
          <a:ln/>
        </p:spPr>
        <p:txBody>
          <a:bodyPr wrap="none" lIns="0" tIns="0" rIns="0" bIns="0" rtlCol="0" anchor="t"/>
          <a:lstStyle/>
          <a:p>
            <a:pPr marL="0" indent="0" algn="l">
              <a:lnSpc>
                <a:spcPts val="6300"/>
              </a:lnSpc>
              <a:buNone/>
            </a:pPr>
            <a:r>
              <a:rPr lang="en-US" sz="5050" b="1" dirty="0">
                <a:solidFill>
                  <a:srgbClr val="233939"/>
                </a:solidFill>
                <a:latin typeface="Syne Bold" pitchFamily="34" charset="0"/>
                <a:ea typeface="Syne Bold" pitchFamily="34" charset="-122"/>
                <a:cs typeface="Syne Bold" pitchFamily="34" charset="-120"/>
              </a:rPr>
              <a:t>Technology Behind the Magic</a:t>
            </a:r>
            <a:endParaRPr lang="en-US" sz="5050" dirty="0"/>
          </a:p>
        </p:txBody>
      </p:sp>
      <p:sp>
        <p:nvSpPr>
          <p:cNvPr id="4" name="Shape 2"/>
          <p:cNvSpPr/>
          <p:nvPr/>
        </p:nvSpPr>
        <p:spPr>
          <a:xfrm>
            <a:off x="745569" y="2073473"/>
            <a:ext cx="6476405" cy="2729389"/>
          </a:xfrm>
          <a:prstGeom prst="roundRect">
            <a:avLst>
              <a:gd name="adj" fmla="val 2868"/>
            </a:avLst>
          </a:prstGeom>
          <a:solidFill>
            <a:srgbClr val="DDEEE6"/>
          </a:solidFill>
          <a:ln w="7620">
            <a:solidFill>
              <a:srgbClr val="C3D4CC"/>
            </a:solidFill>
            <a:prstDash val="solid"/>
          </a:ln>
        </p:spPr>
        <p:txBody>
          <a:bodyPr/>
          <a:lstStyle/>
          <a:p>
            <a:endParaRPr lang="en-US"/>
          </a:p>
        </p:txBody>
      </p:sp>
      <p:sp>
        <p:nvSpPr>
          <p:cNvPr id="5" name="Shape 3"/>
          <p:cNvSpPr/>
          <p:nvPr/>
        </p:nvSpPr>
        <p:spPr>
          <a:xfrm>
            <a:off x="939522" y="2267426"/>
            <a:ext cx="559118" cy="559118"/>
          </a:xfrm>
          <a:prstGeom prst="roundRect">
            <a:avLst>
              <a:gd name="adj" fmla="val 16352694"/>
            </a:avLst>
          </a:prstGeom>
          <a:solidFill>
            <a:srgbClr val="224435"/>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093232" y="2389703"/>
            <a:ext cx="251579" cy="314444"/>
          </a:xfrm>
          <a:prstGeom prst="rect">
            <a:avLst/>
          </a:prstGeom>
        </p:spPr>
      </p:pic>
      <p:sp>
        <p:nvSpPr>
          <p:cNvPr id="7" name="Text 4"/>
          <p:cNvSpPr/>
          <p:nvPr/>
        </p:nvSpPr>
        <p:spPr>
          <a:xfrm>
            <a:off x="939522" y="3012877"/>
            <a:ext cx="2329815" cy="291227"/>
          </a:xfrm>
          <a:prstGeom prst="rect">
            <a:avLst/>
          </a:prstGeom>
          <a:noFill/>
          <a:ln/>
        </p:spPr>
        <p:txBody>
          <a:bodyPr wrap="none" lIns="0" tIns="0" rIns="0" bIns="0" rtlCol="0" anchor="t"/>
          <a:lstStyle/>
          <a:p>
            <a:pPr marL="0" indent="0" algn="l">
              <a:lnSpc>
                <a:spcPts val="2250"/>
              </a:lnSpc>
              <a:buNone/>
            </a:pPr>
            <a:r>
              <a:rPr lang="en-US" sz="1800" b="1" dirty="0">
                <a:solidFill>
                  <a:srgbClr val="3B4E4E"/>
                </a:solidFill>
                <a:latin typeface="Syne Bold" pitchFamily="34" charset="0"/>
                <a:ea typeface="Syne Bold" pitchFamily="34" charset="-122"/>
                <a:cs typeface="Syne Bold" pitchFamily="34" charset="-120"/>
              </a:rPr>
              <a:t>Actuators</a:t>
            </a:r>
            <a:endParaRPr lang="en-US" sz="1800" dirty="0"/>
          </a:p>
        </p:txBody>
      </p:sp>
      <p:sp>
        <p:nvSpPr>
          <p:cNvPr id="8" name="Text 5"/>
          <p:cNvSpPr/>
          <p:nvPr/>
        </p:nvSpPr>
        <p:spPr>
          <a:xfrm>
            <a:off x="939522" y="3415903"/>
            <a:ext cx="6088499" cy="1193006"/>
          </a:xfrm>
          <a:prstGeom prst="rect">
            <a:avLst/>
          </a:prstGeom>
          <a:noFill/>
          <a:ln/>
        </p:spPr>
        <p:txBody>
          <a:bodyPr wrap="square" lIns="0" tIns="0" rIns="0" bIns="0" rtlCol="0" anchor="t"/>
          <a:lstStyle/>
          <a:p>
            <a:pPr marL="0" indent="0" algn="l">
              <a:lnSpc>
                <a:spcPts val="2300"/>
              </a:lnSpc>
              <a:buNone/>
            </a:pPr>
            <a:r>
              <a:rPr lang="en-US" sz="1450" dirty="0">
                <a:solidFill>
                  <a:srgbClr val="3B4E4E"/>
                </a:solidFill>
                <a:latin typeface="Overpass Light" pitchFamily="34" charset="0"/>
                <a:ea typeface="Overpass Light" pitchFamily="34" charset="-122"/>
                <a:cs typeface="Overpass Light" pitchFamily="34" charset="-120"/>
              </a:rPr>
              <a:t>Animatronic movements are powered by various actuators. Pneumatic systems use compressed air, hydraulic systems use fluid pressure, and electric motors provide precise rotational or linear motion, each simulating muscle action.</a:t>
            </a:r>
            <a:endParaRPr lang="en-US" sz="1450" dirty="0"/>
          </a:p>
        </p:txBody>
      </p:sp>
      <p:sp>
        <p:nvSpPr>
          <p:cNvPr id="9" name="Shape 6"/>
          <p:cNvSpPr/>
          <p:nvPr/>
        </p:nvSpPr>
        <p:spPr>
          <a:xfrm>
            <a:off x="7408307" y="2073473"/>
            <a:ext cx="6476524" cy="2729389"/>
          </a:xfrm>
          <a:prstGeom prst="roundRect">
            <a:avLst>
              <a:gd name="adj" fmla="val 2868"/>
            </a:avLst>
          </a:prstGeom>
          <a:solidFill>
            <a:srgbClr val="DDEEE6"/>
          </a:solidFill>
          <a:ln w="7620">
            <a:solidFill>
              <a:srgbClr val="C3D4CC"/>
            </a:solidFill>
            <a:prstDash val="solid"/>
          </a:ln>
        </p:spPr>
        <p:txBody>
          <a:bodyPr/>
          <a:lstStyle/>
          <a:p>
            <a:endParaRPr lang="en-US"/>
          </a:p>
        </p:txBody>
      </p:sp>
      <p:sp>
        <p:nvSpPr>
          <p:cNvPr id="10" name="Shape 7"/>
          <p:cNvSpPr/>
          <p:nvPr/>
        </p:nvSpPr>
        <p:spPr>
          <a:xfrm>
            <a:off x="7602260" y="2267426"/>
            <a:ext cx="559118" cy="559118"/>
          </a:xfrm>
          <a:prstGeom prst="roundRect">
            <a:avLst>
              <a:gd name="adj" fmla="val 16352694"/>
            </a:avLst>
          </a:prstGeom>
          <a:solidFill>
            <a:srgbClr val="224435"/>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7755969" y="2389703"/>
            <a:ext cx="251579" cy="314444"/>
          </a:xfrm>
          <a:prstGeom prst="rect">
            <a:avLst/>
          </a:prstGeom>
        </p:spPr>
      </p:pic>
      <p:sp>
        <p:nvSpPr>
          <p:cNvPr id="12" name="Text 8"/>
          <p:cNvSpPr/>
          <p:nvPr/>
        </p:nvSpPr>
        <p:spPr>
          <a:xfrm>
            <a:off x="7602260" y="3012877"/>
            <a:ext cx="3382447" cy="291227"/>
          </a:xfrm>
          <a:prstGeom prst="rect">
            <a:avLst/>
          </a:prstGeom>
          <a:noFill/>
          <a:ln/>
        </p:spPr>
        <p:txBody>
          <a:bodyPr wrap="none" lIns="0" tIns="0" rIns="0" bIns="0" rtlCol="0" anchor="t"/>
          <a:lstStyle/>
          <a:p>
            <a:pPr marL="0" indent="0" algn="l">
              <a:lnSpc>
                <a:spcPts val="2250"/>
              </a:lnSpc>
              <a:buNone/>
            </a:pPr>
            <a:r>
              <a:rPr lang="en-US" sz="1800" b="1" dirty="0">
                <a:solidFill>
                  <a:srgbClr val="3B4E4E"/>
                </a:solidFill>
                <a:latin typeface="Syne Bold" pitchFamily="34" charset="0"/>
                <a:ea typeface="Syne Bold" pitchFamily="34" charset="-122"/>
                <a:cs typeface="Syne Bold" pitchFamily="34" charset="-120"/>
              </a:rPr>
              <a:t>Sensors &amp; Microcontrollers</a:t>
            </a:r>
            <a:endParaRPr lang="en-US" sz="1800" dirty="0"/>
          </a:p>
        </p:txBody>
      </p:sp>
      <p:sp>
        <p:nvSpPr>
          <p:cNvPr id="13" name="Text 9"/>
          <p:cNvSpPr/>
          <p:nvPr/>
        </p:nvSpPr>
        <p:spPr>
          <a:xfrm>
            <a:off x="7602260" y="3415903"/>
            <a:ext cx="6088618" cy="1193006"/>
          </a:xfrm>
          <a:prstGeom prst="rect">
            <a:avLst/>
          </a:prstGeom>
          <a:noFill/>
          <a:ln/>
        </p:spPr>
        <p:txBody>
          <a:bodyPr wrap="square" lIns="0" tIns="0" rIns="0" bIns="0" rtlCol="0" anchor="t"/>
          <a:lstStyle/>
          <a:p>
            <a:pPr marL="0" indent="0" algn="l">
              <a:lnSpc>
                <a:spcPts val="2300"/>
              </a:lnSpc>
              <a:buNone/>
            </a:pPr>
            <a:r>
              <a:rPr lang="en-US" sz="1450" dirty="0">
                <a:solidFill>
                  <a:srgbClr val="3B4E4E"/>
                </a:solidFill>
                <a:latin typeface="Overpass Light" pitchFamily="34" charset="0"/>
                <a:ea typeface="Overpass Light" pitchFamily="34" charset="-122"/>
                <a:cs typeface="Overpass Light" pitchFamily="34" charset="-120"/>
              </a:rPr>
              <a:t>Sensors detect position, pressure, or movement, providing feedback to microcontrollers. These microcontrollers then execute pre-programmed sequences or respond to real-time remote commands, ensuring smooth and accurate motion.</a:t>
            </a:r>
            <a:endParaRPr lang="en-US" sz="1450" dirty="0"/>
          </a:p>
        </p:txBody>
      </p:sp>
      <p:sp>
        <p:nvSpPr>
          <p:cNvPr id="14" name="Shape 10"/>
          <p:cNvSpPr/>
          <p:nvPr/>
        </p:nvSpPr>
        <p:spPr>
          <a:xfrm>
            <a:off x="745569" y="4989195"/>
            <a:ext cx="6476405" cy="2729389"/>
          </a:xfrm>
          <a:prstGeom prst="roundRect">
            <a:avLst>
              <a:gd name="adj" fmla="val 2868"/>
            </a:avLst>
          </a:prstGeom>
          <a:solidFill>
            <a:srgbClr val="DDEEE6"/>
          </a:solidFill>
          <a:ln w="7620">
            <a:solidFill>
              <a:srgbClr val="C3D4CC"/>
            </a:solidFill>
            <a:prstDash val="solid"/>
          </a:ln>
        </p:spPr>
        <p:txBody>
          <a:bodyPr/>
          <a:lstStyle/>
          <a:p>
            <a:endParaRPr lang="en-US"/>
          </a:p>
        </p:txBody>
      </p:sp>
      <p:sp>
        <p:nvSpPr>
          <p:cNvPr id="15" name="Shape 11"/>
          <p:cNvSpPr/>
          <p:nvPr/>
        </p:nvSpPr>
        <p:spPr>
          <a:xfrm>
            <a:off x="939522" y="5183148"/>
            <a:ext cx="559118" cy="559118"/>
          </a:xfrm>
          <a:prstGeom prst="roundRect">
            <a:avLst>
              <a:gd name="adj" fmla="val 16352694"/>
            </a:avLst>
          </a:prstGeom>
          <a:solidFill>
            <a:srgbClr val="224435"/>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1093232" y="5305425"/>
            <a:ext cx="251579" cy="314444"/>
          </a:xfrm>
          <a:prstGeom prst="rect">
            <a:avLst/>
          </a:prstGeom>
        </p:spPr>
      </p:pic>
      <p:sp>
        <p:nvSpPr>
          <p:cNvPr id="17" name="Text 12"/>
          <p:cNvSpPr/>
          <p:nvPr/>
        </p:nvSpPr>
        <p:spPr>
          <a:xfrm>
            <a:off x="939522" y="5928598"/>
            <a:ext cx="2823805" cy="291227"/>
          </a:xfrm>
          <a:prstGeom prst="rect">
            <a:avLst/>
          </a:prstGeom>
          <a:noFill/>
          <a:ln/>
        </p:spPr>
        <p:txBody>
          <a:bodyPr wrap="none" lIns="0" tIns="0" rIns="0" bIns="0" rtlCol="0" anchor="t"/>
          <a:lstStyle/>
          <a:p>
            <a:pPr marL="0" indent="0" algn="l">
              <a:lnSpc>
                <a:spcPts val="2250"/>
              </a:lnSpc>
              <a:buNone/>
            </a:pPr>
            <a:r>
              <a:rPr lang="en-US" sz="1800" b="1" dirty="0">
                <a:solidFill>
                  <a:srgbClr val="3B4E4E"/>
                </a:solidFill>
                <a:latin typeface="Syne Bold" pitchFamily="34" charset="0"/>
                <a:ea typeface="Syne Bold" pitchFamily="34" charset="-122"/>
                <a:cs typeface="Syne Bold" pitchFamily="34" charset="-120"/>
              </a:rPr>
              <a:t>Precision Design Tools</a:t>
            </a:r>
            <a:endParaRPr lang="en-US" sz="1800" dirty="0"/>
          </a:p>
        </p:txBody>
      </p:sp>
      <p:sp>
        <p:nvSpPr>
          <p:cNvPr id="18" name="Text 13"/>
          <p:cNvSpPr/>
          <p:nvPr/>
        </p:nvSpPr>
        <p:spPr>
          <a:xfrm>
            <a:off x="939522" y="6331625"/>
            <a:ext cx="6088499" cy="1193006"/>
          </a:xfrm>
          <a:prstGeom prst="rect">
            <a:avLst/>
          </a:prstGeom>
          <a:noFill/>
          <a:ln/>
        </p:spPr>
        <p:txBody>
          <a:bodyPr wrap="square" lIns="0" tIns="0" rIns="0" bIns="0" rtlCol="0" anchor="t"/>
          <a:lstStyle/>
          <a:p>
            <a:pPr marL="0" indent="0" algn="l">
              <a:lnSpc>
                <a:spcPts val="2300"/>
              </a:lnSpc>
              <a:buNone/>
            </a:pPr>
            <a:r>
              <a:rPr lang="en-US" sz="1450" dirty="0">
                <a:solidFill>
                  <a:srgbClr val="3B4E4E"/>
                </a:solidFill>
                <a:latin typeface="Overpass Light" pitchFamily="34" charset="0"/>
                <a:ea typeface="Overpass Light" pitchFamily="34" charset="-122"/>
                <a:cs typeface="Overpass Light" pitchFamily="34" charset="-120"/>
              </a:rPr>
              <a:t>Computer-Aided Design (CAD) software is essential for modeling complex mechanical parts. Laser scanning technologies ensure exact replication of physical sculptures into digital formats, maintaining high fidelity from concept to creation.</a:t>
            </a:r>
            <a:endParaRPr lang="en-US" sz="1450" dirty="0"/>
          </a:p>
        </p:txBody>
      </p:sp>
      <p:sp>
        <p:nvSpPr>
          <p:cNvPr id="19" name="Shape 14"/>
          <p:cNvSpPr/>
          <p:nvPr/>
        </p:nvSpPr>
        <p:spPr>
          <a:xfrm>
            <a:off x="7408307" y="4989195"/>
            <a:ext cx="6476524" cy="2729389"/>
          </a:xfrm>
          <a:prstGeom prst="roundRect">
            <a:avLst>
              <a:gd name="adj" fmla="val 2868"/>
            </a:avLst>
          </a:prstGeom>
          <a:solidFill>
            <a:srgbClr val="DDEEE6"/>
          </a:solidFill>
          <a:ln w="7620">
            <a:solidFill>
              <a:srgbClr val="C3D4CC"/>
            </a:solidFill>
            <a:prstDash val="solid"/>
          </a:ln>
        </p:spPr>
        <p:txBody>
          <a:bodyPr/>
          <a:lstStyle/>
          <a:p>
            <a:endParaRPr lang="en-US"/>
          </a:p>
        </p:txBody>
      </p:sp>
      <p:sp>
        <p:nvSpPr>
          <p:cNvPr id="20" name="Shape 15"/>
          <p:cNvSpPr/>
          <p:nvPr/>
        </p:nvSpPr>
        <p:spPr>
          <a:xfrm>
            <a:off x="7602260" y="5183148"/>
            <a:ext cx="559118" cy="559118"/>
          </a:xfrm>
          <a:prstGeom prst="roundRect">
            <a:avLst>
              <a:gd name="adj" fmla="val 16352694"/>
            </a:avLst>
          </a:prstGeom>
          <a:solidFill>
            <a:srgbClr val="224435"/>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7755969" y="5305425"/>
            <a:ext cx="251579" cy="314444"/>
          </a:xfrm>
          <a:prstGeom prst="rect">
            <a:avLst/>
          </a:prstGeom>
        </p:spPr>
      </p:pic>
      <p:sp>
        <p:nvSpPr>
          <p:cNvPr id="22" name="Text 16"/>
          <p:cNvSpPr/>
          <p:nvPr/>
        </p:nvSpPr>
        <p:spPr>
          <a:xfrm>
            <a:off x="7602260" y="5928598"/>
            <a:ext cx="2329815" cy="291227"/>
          </a:xfrm>
          <a:prstGeom prst="rect">
            <a:avLst/>
          </a:prstGeom>
          <a:noFill/>
          <a:ln/>
        </p:spPr>
        <p:txBody>
          <a:bodyPr wrap="none" lIns="0" tIns="0" rIns="0" bIns="0" rtlCol="0" anchor="t"/>
          <a:lstStyle/>
          <a:p>
            <a:pPr marL="0" indent="0" algn="l">
              <a:lnSpc>
                <a:spcPts val="2250"/>
              </a:lnSpc>
              <a:buNone/>
            </a:pPr>
            <a:r>
              <a:rPr lang="en-US" sz="1800" b="1" dirty="0">
                <a:solidFill>
                  <a:srgbClr val="3B4E4E"/>
                </a:solidFill>
                <a:latin typeface="Syne Bold" pitchFamily="34" charset="0"/>
                <a:ea typeface="Syne Bold" pitchFamily="34" charset="-122"/>
                <a:cs typeface="Syne Bold" pitchFamily="34" charset="-120"/>
              </a:rPr>
              <a:t>Motion Control</a:t>
            </a:r>
            <a:endParaRPr lang="en-US" sz="1800" dirty="0"/>
          </a:p>
        </p:txBody>
      </p:sp>
      <p:sp>
        <p:nvSpPr>
          <p:cNvPr id="23" name="Text 17"/>
          <p:cNvSpPr/>
          <p:nvPr/>
        </p:nvSpPr>
        <p:spPr>
          <a:xfrm>
            <a:off x="7602260" y="6331625"/>
            <a:ext cx="6088618" cy="1193006"/>
          </a:xfrm>
          <a:prstGeom prst="rect">
            <a:avLst/>
          </a:prstGeom>
          <a:noFill/>
          <a:ln/>
        </p:spPr>
        <p:txBody>
          <a:bodyPr wrap="square" lIns="0" tIns="0" rIns="0" bIns="0" rtlCol="0" anchor="t"/>
          <a:lstStyle/>
          <a:p>
            <a:pPr marL="0" indent="0" algn="l">
              <a:lnSpc>
                <a:spcPts val="2300"/>
              </a:lnSpc>
              <a:buNone/>
            </a:pPr>
            <a:r>
              <a:rPr lang="en-US" sz="1450" dirty="0">
                <a:solidFill>
                  <a:srgbClr val="3B4E4E"/>
                </a:solidFill>
                <a:latin typeface="Overpass Light" pitchFamily="34" charset="0"/>
                <a:ea typeface="Overpass Light" pitchFamily="34" charset="-122"/>
                <a:cs typeface="Overpass Light" pitchFamily="34" charset="-120"/>
              </a:rPr>
              <a:t>Advanced motion actuators are calibrated to replicate the subtle nuances of human and animal movements, including detailed limb articulations and expressive facial expressions, contributing significantly to the animatronic's realism.</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317784"/>
            <a:ext cx="3104317" cy="310158"/>
          </a:xfrm>
          <a:prstGeom prst="rect">
            <a:avLst/>
          </a:prstGeom>
          <a:noFill/>
          <a:ln/>
        </p:spPr>
        <p:txBody>
          <a:bodyPr wrap="none" lIns="0" tIns="0" rIns="0" bIns="0" rtlCol="0" anchor="t"/>
          <a:lstStyle/>
          <a:p>
            <a:pPr marL="0" indent="0" algn="l">
              <a:lnSpc>
                <a:spcPts val="2400"/>
              </a:lnSpc>
              <a:buNone/>
            </a:pPr>
            <a:r>
              <a:rPr lang="en-US" sz="1950" b="1" dirty="0">
                <a:solidFill>
                  <a:srgbClr val="233939"/>
                </a:solidFill>
                <a:latin typeface="Syne Bold" pitchFamily="34" charset="0"/>
                <a:ea typeface="Syne Bold" pitchFamily="34" charset="-122"/>
                <a:cs typeface="Syne Bold" pitchFamily="34" charset="-120"/>
              </a:rPr>
              <a:t>Impactful Applications</a:t>
            </a:r>
            <a:endParaRPr lang="en-US" sz="1950" dirty="0"/>
          </a:p>
        </p:txBody>
      </p:sp>
      <p:sp>
        <p:nvSpPr>
          <p:cNvPr id="3" name="Text 1"/>
          <p:cNvSpPr/>
          <p:nvPr/>
        </p:nvSpPr>
        <p:spPr>
          <a:xfrm>
            <a:off x="793790" y="1826300"/>
            <a:ext cx="13042821" cy="1711642"/>
          </a:xfrm>
          <a:prstGeom prst="rect">
            <a:avLst/>
          </a:prstGeom>
          <a:noFill/>
          <a:ln/>
        </p:spPr>
        <p:txBody>
          <a:bodyPr wrap="square" lIns="0" tIns="0" rIns="0" bIns="0" rtlCol="0" anchor="t"/>
          <a:lstStyle/>
          <a:p>
            <a:pPr marL="0" indent="0" algn="l">
              <a:lnSpc>
                <a:spcPts val="6700"/>
              </a:lnSpc>
              <a:buNone/>
            </a:pPr>
            <a:r>
              <a:rPr lang="en-US" sz="5350" b="1" dirty="0">
                <a:solidFill>
                  <a:srgbClr val="233939"/>
                </a:solidFill>
                <a:latin typeface="Syne Bold" pitchFamily="34" charset="0"/>
                <a:ea typeface="Syne Bold" pitchFamily="34" charset="-122"/>
                <a:cs typeface="Syne Bold" pitchFamily="34" charset="-120"/>
              </a:rPr>
              <a:t>Robotics and Animatronics in Entertainment</a:t>
            </a:r>
            <a:endParaRPr lang="en-US" sz="5350" dirty="0"/>
          </a:p>
        </p:txBody>
      </p:sp>
      <p:sp>
        <p:nvSpPr>
          <p:cNvPr id="4" name="Text 2"/>
          <p:cNvSpPr/>
          <p:nvPr/>
        </p:nvSpPr>
        <p:spPr>
          <a:xfrm>
            <a:off x="793790" y="4014192"/>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224435"/>
                </a:solidFill>
                <a:latin typeface="Overpass Light" pitchFamily="34" charset="0"/>
                <a:ea typeface="Overpass Light" pitchFamily="34" charset="-122"/>
                <a:cs typeface="Overpass Light" pitchFamily="34" charset="-120"/>
              </a:rPr>
              <a:t>Jurassic Park's T-Rex:</a:t>
            </a:r>
            <a:r>
              <a:rPr lang="en-US" sz="1550" dirty="0">
                <a:solidFill>
                  <a:srgbClr val="3B4E4E"/>
                </a:solidFill>
                <a:latin typeface="Overpass Light" pitchFamily="34" charset="0"/>
                <a:ea typeface="Overpass Light" pitchFamily="34" charset="-122"/>
                <a:cs typeface="Overpass Light" pitchFamily="34" charset="-120"/>
              </a:rPr>
              <a:t> A landmark achievement in 1993, the full-scale animatronic T-Rex seamlessly blended with CGI, setting a new benchmark for creature effects and immersing audiences in a prehistoric world. Its lifelike presence on set was revolutionary.</a:t>
            </a:r>
            <a:endParaRPr lang="en-US" sz="1550" dirty="0"/>
          </a:p>
        </p:txBody>
      </p:sp>
      <p:sp>
        <p:nvSpPr>
          <p:cNvPr id="5" name="Text 3"/>
          <p:cNvSpPr/>
          <p:nvPr/>
        </p:nvSpPr>
        <p:spPr>
          <a:xfrm>
            <a:off x="793790" y="5462945"/>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224435"/>
                </a:solidFill>
                <a:latin typeface="Overpass Light" pitchFamily="34" charset="0"/>
                <a:ea typeface="Overpass Light" pitchFamily="34" charset="-122"/>
                <a:cs typeface="Overpass Light" pitchFamily="34" charset="-120"/>
              </a:rPr>
              <a:t>Disney Theme Parks:</a:t>
            </a:r>
            <a:r>
              <a:rPr lang="en-US" sz="1550" dirty="0">
                <a:solidFill>
                  <a:srgbClr val="3B4E4E"/>
                </a:solidFill>
                <a:latin typeface="Overpass Light" pitchFamily="34" charset="0"/>
                <a:ea typeface="Overpass Light" pitchFamily="34" charset="-122"/>
                <a:cs typeface="Overpass Light" pitchFamily="34" charset="-120"/>
              </a:rPr>
              <a:t> Across Disney resorts worldwide, hundreds of animatronic figures bring beloved characters to life, from pirates and princesses to historical figures, delighting millions annually and creating unforgettable experiences.</a:t>
            </a:r>
            <a:endParaRPr lang="en-US" sz="1550" dirty="0"/>
          </a:p>
        </p:txBody>
      </p:sp>
      <p:sp>
        <p:nvSpPr>
          <p:cNvPr id="6" name="Text 4"/>
          <p:cNvSpPr/>
          <p:nvPr/>
        </p:nvSpPr>
        <p:spPr>
          <a:xfrm>
            <a:off x="7564874" y="4014192"/>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224435"/>
                </a:solidFill>
                <a:latin typeface="Overpass Light" pitchFamily="34" charset="0"/>
                <a:ea typeface="Overpass Light" pitchFamily="34" charset="-122"/>
                <a:cs typeface="Overpass Light" pitchFamily="34" charset="-120"/>
              </a:rPr>
              <a:t>Film and Television:</a:t>
            </a:r>
            <a:r>
              <a:rPr lang="en-US" sz="1550" dirty="0">
                <a:solidFill>
                  <a:srgbClr val="3B4E4E"/>
                </a:solidFill>
                <a:latin typeface="Overpass Light" pitchFamily="34" charset="0"/>
                <a:ea typeface="Overpass Light" pitchFamily="34" charset="-122"/>
                <a:cs typeface="Overpass Light" pitchFamily="34" charset="-120"/>
              </a:rPr>
              <a:t> Animatronics continue to be vital in film production, creating realistic creatures and characters that are impossible or too costly to achieve with CGI alone, adding tangible presence and weight to scenes.</a:t>
            </a:r>
            <a:endParaRPr lang="en-US" sz="1550" dirty="0"/>
          </a:p>
        </p:txBody>
      </p:sp>
      <p:sp>
        <p:nvSpPr>
          <p:cNvPr id="7" name="Text 5"/>
          <p:cNvSpPr/>
          <p:nvPr/>
        </p:nvSpPr>
        <p:spPr>
          <a:xfrm>
            <a:off x="7564874" y="5462945"/>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224435"/>
                </a:solidFill>
                <a:latin typeface="Overpass Light" pitchFamily="34" charset="0"/>
                <a:ea typeface="Overpass Light" pitchFamily="34" charset="-122"/>
                <a:cs typeface="Overpass Light" pitchFamily="34" charset="-120"/>
              </a:rPr>
              <a:t>Mr. Potato Head at Toy Story Mania:</a:t>
            </a:r>
            <a:r>
              <a:rPr lang="en-US" sz="1550" dirty="0">
                <a:solidFill>
                  <a:srgbClr val="3B4E4E"/>
                </a:solidFill>
                <a:latin typeface="Overpass Light" pitchFamily="34" charset="0"/>
                <a:ea typeface="Overpass Light" pitchFamily="34" charset="-122"/>
                <a:cs typeface="Overpass Light" pitchFamily="34" charset="-120"/>
              </a:rPr>
              <a:t> This animatronic figure exemplifies advanced capabilities, featuring sophisticated lip-sync technology and interactive dialogue that adapts to guest responses, making it one of the most beloved attractions.</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72358" y="531852"/>
            <a:ext cx="2413873" cy="301585"/>
          </a:xfrm>
          <a:prstGeom prst="rect">
            <a:avLst/>
          </a:prstGeom>
          <a:noFill/>
          <a:ln/>
        </p:spPr>
        <p:txBody>
          <a:bodyPr wrap="none" lIns="0" tIns="0" rIns="0" bIns="0" rtlCol="0" anchor="t"/>
          <a:lstStyle/>
          <a:p>
            <a:pPr marL="0" indent="0" algn="l">
              <a:lnSpc>
                <a:spcPts val="2350"/>
              </a:lnSpc>
              <a:buNone/>
            </a:pPr>
            <a:r>
              <a:rPr lang="en-US" sz="1900" b="1" dirty="0">
                <a:solidFill>
                  <a:srgbClr val="233939"/>
                </a:solidFill>
                <a:latin typeface="Syne Bold" pitchFamily="34" charset="0"/>
                <a:ea typeface="Syne Bold" pitchFamily="34" charset="-122"/>
                <a:cs typeface="Syne Bold" pitchFamily="34" charset="-120"/>
              </a:rPr>
              <a:t>Diverse Utility</a:t>
            </a:r>
            <a:endParaRPr lang="en-US" sz="1900" dirty="0"/>
          </a:p>
        </p:txBody>
      </p:sp>
      <p:sp>
        <p:nvSpPr>
          <p:cNvPr id="3" name="Text 1"/>
          <p:cNvSpPr/>
          <p:nvPr/>
        </p:nvSpPr>
        <p:spPr>
          <a:xfrm>
            <a:off x="772358" y="1026438"/>
            <a:ext cx="13085683" cy="1665684"/>
          </a:xfrm>
          <a:prstGeom prst="rect">
            <a:avLst/>
          </a:prstGeom>
          <a:noFill/>
          <a:ln/>
        </p:spPr>
        <p:txBody>
          <a:bodyPr wrap="square" lIns="0" tIns="0" rIns="0" bIns="0" rtlCol="0" anchor="t"/>
          <a:lstStyle/>
          <a:p>
            <a:pPr marL="0" indent="0" algn="l">
              <a:lnSpc>
                <a:spcPts val="6550"/>
              </a:lnSpc>
              <a:buNone/>
            </a:pPr>
            <a:r>
              <a:rPr lang="en-US" sz="5200" b="1" dirty="0">
                <a:solidFill>
                  <a:srgbClr val="233939"/>
                </a:solidFill>
                <a:latin typeface="Syne Bold" pitchFamily="34" charset="0"/>
                <a:ea typeface="Syne Bold" pitchFamily="34" charset="-122"/>
                <a:cs typeface="Syne Bold" pitchFamily="34" charset="-120"/>
              </a:rPr>
              <a:t>Beyond Entertainment: Practical Robotics Applications</a:t>
            </a:r>
            <a:endParaRPr lang="en-US" sz="5200" dirty="0"/>
          </a:p>
        </p:txBody>
      </p:sp>
      <p:pic>
        <p:nvPicPr>
          <p:cNvPr id="4" name="Image 0" descr="preencoded.png"/>
          <p:cNvPicPr>
            <a:picLocks noChangeAspect="1"/>
          </p:cNvPicPr>
          <p:nvPr/>
        </p:nvPicPr>
        <p:blipFill>
          <a:blip r:embed="rId3"/>
          <a:stretch>
            <a:fillRect/>
          </a:stretch>
        </p:blipFill>
        <p:spPr>
          <a:xfrm>
            <a:off x="772358" y="2981682"/>
            <a:ext cx="579239" cy="579239"/>
          </a:xfrm>
          <a:prstGeom prst="rect">
            <a:avLst/>
          </a:prstGeom>
        </p:spPr>
      </p:pic>
      <p:sp>
        <p:nvSpPr>
          <p:cNvPr id="5" name="Text 2"/>
          <p:cNvSpPr/>
          <p:nvPr/>
        </p:nvSpPr>
        <p:spPr>
          <a:xfrm>
            <a:off x="772358" y="3802261"/>
            <a:ext cx="3569375" cy="301585"/>
          </a:xfrm>
          <a:prstGeom prst="rect">
            <a:avLst/>
          </a:prstGeom>
          <a:noFill/>
          <a:ln/>
        </p:spPr>
        <p:txBody>
          <a:bodyPr wrap="none" lIns="0" tIns="0" rIns="0" bIns="0" rtlCol="0" anchor="t"/>
          <a:lstStyle/>
          <a:p>
            <a:pPr marL="0" indent="0" algn="l">
              <a:lnSpc>
                <a:spcPts val="2350"/>
              </a:lnSpc>
              <a:buNone/>
            </a:pPr>
            <a:r>
              <a:rPr lang="en-US" sz="1900" b="1" dirty="0">
                <a:solidFill>
                  <a:srgbClr val="3B4E4E"/>
                </a:solidFill>
                <a:latin typeface="Syne Bold" pitchFamily="34" charset="0"/>
                <a:ea typeface="Syne Bold" pitchFamily="34" charset="-122"/>
                <a:cs typeface="Syne Bold" pitchFamily="34" charset="-120"/>
              </a:rPr>
              <a:t>Military Training Simulators</a:t>
            </a:r>
            <a:endParaRPr lang="en-US" sz="1900" dirty="0"/>
          </a:p>
        </p:txBody>
      </p:sp>
      <p:sp>
        <p:nvSpPr>
          <p:cNvPr id="6" name="Text 3"/>
          <p:cNvSpPr/>
          <p:nvPr/>
        </p:nvSpPr>
        <p:spPr>
          <a:xfrm>
            <a:off x="772358" y="4219694"/>
            <a:ext cx="6422112" cy="926902"/>
          </a:xfrm>
          <a:prstGeom prst="rect">
            <a:avLst/>
          </a:prstGeom>
          <a:noFill/>
          <a:ln/>
        </p:spPr>
        <p:txBody>
          <a:bodyPr wrap="square" lIns="0" tIns="0" rIns="0" bIns="0" rtlCol="0" anchor="t"/>
          <a:lstStyle/>
          <a:p>
            <a:pPr marL="0" indent="0" algn="l">
              <a:lnSpc>
                <a:spcPts val="2400"/>
              </a:lnSpc>
              <a:buNone/>
            </a:pPr>
            <a:r>
              <a:rPr lang="en-US" sz="1500" dirty="0">
                <a:solidFill>
                  <a:srgbClr val="3B4E4E"/>
                </a:solidFill>
                <a:latin typeface="Overpass Light" pitchFamily="34" charset="0"/>
                <a:ea typeface="Overpass Light" pitchFamily="34" charset="-122"/>
                <a:cs typeface="Overpass Light" pitchFamily="34" charset="-120"/>
              </a:rPr>
              <a:t>Animatronic figures are used in highly realistic training scenarios for military and law enforcement personnel, simulating various threats and conditions to prepare trainees for real-world situations.</a:t>
            </a:r>
            <a:endParaRPr lang="en-US" sz="1500" dirty="0"/>
          </a:p>
        </p:txBody>
      </p:sp>
      <p:pic>
        <p:nvPicPr>
          <p:cNvPr id="7" name="Image 1" descr="preencoded.png"/>
          <p:cNvPicPr>
            <a:picLocks noChangeAspect="1"/>
          </p:cNvPicPr>
          <p:nvPr/>
        </p:nvPicPr>
        <p:blipFill>
          <a:blip r:embed="rId4"/>
          <a:stretch>
            <a:fillRect/>
          </a:stretch>
        </p:blipFill>
        <p:spPr>
          <a:xfrm>
            <a:off x="7435810" y="2981682"/>
            <a:ext cx="579239" cy="579239"/>
          </a:xfrm>
          <a:prstGeom prst="rect">
            <a:avLst/>
          </a:prstGeom>
        </p:spPr>
      </p:pic>
      <p:sp>
        <p:nvSpPr>
          <p:cNvPr id="8" name="Text 4"/>
          <p:cNvSpPr/>
          <p:nvPr/>
        </p:nvSpPr>
        <p:spPr>
          <a:xfrm>
            <a:off x="7435810" y="3802261"/>
            <a:ext cx="2413873" cy="301585"/>
          </a:xfrm>
          <a:prstGeom prst="rect">
            <a:avLst/>
          </a:prstGeom>
          <a:noFill/>
          <a:ln/>
        </p:spPr>
        <p:txBody>
          <a:bodyPr wrap="none" lIns="0" tIns="0" rIns="0" bIns="0" rtlCol="0" anchor="t"/>
          <a:lstStyle/>
          <a:p>
            <a:pPr marL="0" indent="0" algn="l">
              <a:lnSpc>
                <a:spcPts val="2350"/>
              </a:lnSpc>
              <a:buNone/>
            </a:pPr>
            <a:r>
              <a:rPr lang="en-US" sz="1900" b="1" dirty="0">
                <a:solidFill>
                  <a:srgbClr val="3B4E4E"/>
                </a:solidFill>
                <a:latin typeface="Syne Bold" pitchFamily="34" charset="0"/>
                <a:ea typeface="Syne Bold" pitchFamily="34" charset="-122"/>
                <a:cs typeface="Syne Bold" pitchFamily="34" charset="-120"/>
              </a:rPr>
              <a:t>Medical Robotics</a:t>
            </a:r>
            <a:endParaRPr lang="en-US" sz="1900" dirty="0"/>
          </a:p>
        </p:txBody>
      </p:sp>
      <p:sp>
        <p:nvSpPr>
          <p:cNvPr id="9" name="Text 5"/>
          <p:cNvSpPr/>
          <p:nvPr/>
        </p:nvSpPr>
        <p:spPr>
          <a:xfrm>
            <a:off x="7435810" y="4219694"/>
            <a:ext cx="6422231" cy="926902"/>
          </a:xfrm>
          <a:prstGeom prst="rect">
            <a:avLst/>
          </a:prstGeom>
          <a:noFill/>
          <a:ln/>
        </p:spPr>
        <p:txBody>
          <a:bodyPr wrap="square" lIns="0" tIns="0" rIns="0" bIns="0" rtlCol="0" anchor="t"/>
          <a:lstStyle/>
          <a:p>
            <a:pPr marL="0" indent="0" algn="l">
              <a:lnSpc>
                <a:spcPts val="2400"/>
              </a:lnSpc>
              <a:buNone/>
            </a:pPr>
            <a:r>
              <a:rPr lang="en-US" sz="1500" dirty="0">
                <a:solidFill>
                  <a:srgbClr val="3B4E4E"/>
                </a:solidFill>
                <a:latin typeface="Overpass Light" pitchFamily="34" charset="0"/>
                <a:ea typeface="Overpass Light" pitchFamily="34" charset="-122"/>
                <a:cs typeface="Overpass Light" pitchFamily="34" charset="-120"/>
              </a:rPr>
              <a:t>Robots assist surgeons with precision, perform diagnostic tasks, and aid in rehabilitation therapy, improving patient outcomes and expanding access to advanced medical procedures.</a:t>
            </a:r>
            <a:endParaRPr lang="en-US" sz="1500" dirty="0"/>
          </a:p>
        </p:txBody>
      </p:sp>
      <p:pic>
        <p:nvPicPr>
          <p:cNvPr id="10" name="Image 2" descr="preencoded.png"/>
          <p:cNvPicPr>
            <a:picLocks noChangeAspect="1"/>
          </p:cNvPicPr>
          <p:nvPr/>
        </p:nvPicPr>
        <p:blipFill>
          <a:blip r:embed="rId5"/>
          <a:stretch>
            <a:fillRect/>
          </a:stretch>
        </p:blipFill>
        <p:spPr>
          <a:xfrm>
            <a:off x="772358" y="5532715"/>
            <a:ext cx="579239" cy="579239"/>
          </a:xfrm>
          <a:prstGeom prst="rect">
            <a:avLst/>
          </a:prstGeom>
        </p:spPr>
      </p:pic>
      <p:sp>
        <p:nvSpPr>
          <p:cNvPr id="11" name="Text 6"/>
          <p:cNvSpPr/>
          <p:nvPr/>
        </p:nvSpPr>
        <p:spPr>
          <a:xfrm>
            <a:off x="772358" y="6353294"/>
            <a:ext cx="2875121" cy="301585"/>
          </a:xfrm>
          <a:prstGeom prst="rect">
            <a:avLst/>
          </a:prstGeom>
          <a:noFill/>
          <a:ln/>
        </p:spPr>
        <p:txBody>
          <a:bodyPr wrap="none" lIns="0" tIns="0" rIns="0" bIns="0" rtlCol="0" anchor="t"/>
          <a:lstStyle/>
          <a:p>
            <a:pPr marL="0" indent="0" algn="l">
              <a:lnSpc>
                <a:spcPts val="2350"/>
              </a:lnSpc>
              <a:buNone/>
            </a:pPr>
            <a:r>
              <a:rPr lang="en-US" sz="1900" b="1" dirty="0">
                <a:solidFill>
                  <a:srgbClr val="3B4E4E"/>
                </a:solidFill>
                <a:latin typeface="Syne Bold" pitchFamily="34" charset="0"/>
                <a:ea typeface="Syne Bold" pitchFamily="34" charset="-122"/>
                <a:cs typeface="Syne Bold" pitchFamily="34" charset="-120"/>
              </a:rPr>
              <a:t>Industrial Automation</a:t>
            </a:r>
            <a:endParaRPr lang="en-US" sz="1900" dirty="0"/>
          </a:p>
        </p:txBody>
      </p:sp>
      <p:sp>
        <p:nvSpPr>
          <p:cNvPr id="12" name="Text 7"/>
          <p:cNvSpPr/>
          <p:nvPr/>
        </p:nvSpPr>
        <p:spPr>
          <a:xfrm>
            <a:off x="772358" y="6770727"/>
            <a:ext cx="6422112" cy="926902"/>
          </a:xfrm>
          <a:prstGeom prst="rect">
            <a:avLst/>
          </a:prstGeom>
          <a:noFill/>
          <a:ln/>
        </p:spPr>
        <p:txBody>
          <a:bodyPr wrap="square" lIns="0" tIns="0" rIns="0" bIns="0" rtlCol="0" anchor="t"/>
          <a:lstStyle/>
          <a:p>
            <a:pPr marL="0" indent="0" algn="l">
              <a:lnSpc>
                <a:spcPts val="2400"/>
              </a:lnSpc>
              <a:buNone/>
            </a:pPr>
            <a:r>
              <a:rPr lang="en-US" sz="1500" dirty="0">
                <a:solidFill>
                  <a:srgbClr val="3B4E4E"/>
                </a:solidFill>
                <a:latin typeface="Overpass Light" pitchFamily="34" charset="0"/>
                <a:ea typeface="Overpass Light" pitchFamily="34" charset="-122"/>
                <a:cs typeface="Overpass Light" pitchFamily="34" charset="-120"/>
              </a:rPr>
              <a:t>Industrial robots are the backbone of modern manufacturing, automating repetitive tasks, ensuring precision, and enhancing safety in factories by handling dangerous or heavy materials.</a:t>
            </a:r>
            <a:endParaRPr lang="en-US" sz="1500" dirty="0"/>
          </a:p>
        </p:txBody>
      </p:sp>
      <p:pic>
        <p:nvPicPr>
          <p:cNvPr id="13" name="Image 3" descr="preencoded.png"/>
          <p:cNvPicPr>
            <a:picLocks noChangeAspect="1"/>
          </p:cNvPicPr>
          <p:nvPr/>
        </p:nvPicPr>
        <p:blipFill>
          <a:blip r:embed="rId6"/>
          <a:stretch>
            <a:fillRect/>
          </a:stretch>
        </p:blipFill>
        <p:spPr>
          <a:xfrm>
            <a:off x="7435810" y="5532715"/>
            <a:ext cx="579239" cy="579239"/>
          </a:xfrm>
          <a:prstGeom prst="rect">
            <a:avLst/>
          </a:prstGeom>
        </p:spPr>
      </p:pic>
      <p:sp>
        <p:nvSpPr>
          <p:cNvPr id="14" name="Text 8"/>
          <p:cNvSpPr/>
          <p:nvPr/>
        </p:nvSpPr>
        <p:spPr>
          <a:xfrm>
            <a:off x="7435810" y="6353294"/>
            <a:ext cx="4515445" cy="301585"/>
          </a:xfrm>
          <a:prstGeom prst="rect">
            <a:avLst/>
          </a:prstGeom>
          <a:noFill/>
          <a:ln/>
        </p:spPr>
        <p:txBody>
          <a:bodyPr wrap="none" lIns="0" tIns="0" rIns="0" bIns="0" rtlCol="0" anchor="t"/>
          <a:lstStyle/>
          <a:p>
            <a:pPr marL="0" indent="0" algn="l">
              <a:lnSpc>
                <a:spcPts val="2350"/>
              </a:lnSpc>
              <a:buNone/>
            </a:pPr>
            <a:r>
              <a:rPr lang="en-US" sz="1900" b="1" dirty="0">
                <a:solidFill>
                  <a:srgbClr val="3B4E4E"/>
                </a:solidFill>
                <a:latin typeface="Syne Bold" pitchFamily="34" charset="0"/>
                <a:ea typeface="Syne Bold" pitchFamily="34" charset="-122"/>
                <a:cs typeface="Syne Bold" pitchFamily="34" charset="-120"/>
              </a:rPr>
              <a:t>Social &amp; Companion Animatronics</a:t>
            </a:r>
            <a:endParaRPr lang="en-US" sz="1900" dirty="0"/>
          </a:p>
        </p:txBody>
      </p:sp>
      <p:sp>
        <p:nvSpPr>
          <p:cNvPr id="15" name="Text 9"/>
          <p:cNvSpPr/>
          <p:nvPr/>
        </p:nvSpPr>
        <p:spPr>
          <a:xfrm>
            <a:off x="7435810" y="6770727"/>
            <a:ext cx="6422231" cy="926902"/>
          </a:xfrm>
          <a:prstGeom prst="rect">
            <a:avLst/>
          </a:prstGeom>
          <a:noFill/>
          <a:ln/>
        </p:spPr>
        <p:txBody>
          <a:bodyPr wrap="square" lIns="0" tIns="0" rIns="0" bIns="0" rtlCol="0" anchor="t"/>
          <a:lstStyle/>
          <a:p>
            <a:pPr marL="0" indent="0" algn="l">
              <a:lnSpc>
                <a:spcPts val="2400"/>
              </a:lnSpc>
              <a:buNone/>
            </a:pPr>
            <a:r>
              <a:rPr lang="en-US" sz="1500" dirty="0">
                <a:solidFill>
                  <a:srgbClr val="3B4E4E"/>
                </a:solidFill>
                <a:latin typeface="Overpass Light" pitchFamily="34" charset="0"/>
                <a:ea typeface="Overpass Light" pitchFamily="34" charset="-122"/>
                <a:cs typeface="Overpass Light" pitchFamily="34" charset="-120"/>
              </a:rPr>
              <a:t>Emerging fields include social robots and companion animatronics designed for therapy, education, and companionship, particularly for the elderly or children with special needs.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042749"/>
            <a:ext cx="2788682" cy="310158"/>
          </a:xfrm>
          <a:prstGeom prst="rect">
            <a:avLst/>
          </a:prstGeom>
          <a:noFill/>
          <a:ln/>
        </p:spPr>
        <p:txBody>
          <a:bodyPr wrap="none" lIns="0" tIns="0" rIns="0" bIns="0" rtlCol="0" anchor="t"/>
          <a:lstStyle/>
          <a:p>
            <a:pPr marL="0" indent="0" algn="l">
              <a:lnSpc>
                <a:spcPts val="2400"/>
              </a:lnSpc>
              <a:buNone/>
            </a:pPr>
            <a:r>
              <a:rPr lang="en-US" sz="1950" b="1" dirty="0">
                <a:solidFill>
                  <a:srgbClr val="233939"/>
                </a:solidFill>
                <a:latin typeface="Syne Bold" pitchFamily="34" charset="0"/>
                <a:ea typeface="Syne Bold" pitchFamily="34" charset="-122"/>
                <a:cs typeface="Syne Bold" pitchFamily="34" charset="-120"/>
              </a:rPr>
              <a:t>Overcoming Hurdles</a:t>
            </a:r>
            <a:endParaRPr lang="en-US" sz="1950" dirty="0"/>
          </a:p>
        </p:txBody>
      </p:sp>
      <p:sp>
        <p:nvSpPr>
          <p:cNvPr id="3" name="Text 1"/>
          <p:cNvSpPr/>
          <p:nvPr/>
        </p:nvSpPr>
        <p:spPr>
          <a:xfrm>
            <a:off x="793790" y="1551265"/>
            <a:ext cx="10225088" cy="855821"/>
          </a:xfrm>
          <a:prstGeom prst="rect">
            <a:avLst/>
          </a:prstGeom>
          <a:noFill/>
          <a:ln/>
        </p:spPr>
        <p:txBody>
          <a:bodyPr wrap="none" lIns="0" tIns="0" rIns="0" bIns="0" rtlCol="0" anchor="t"/>
          <a:lstStyle/>
          <a:p>
            <a:pPr marL="0" indent="0" algn="l">
              <a:lnSpc>
                <a:spcPts val="6700"/>
              </a:lnSpc>
              <a:buNone/>
            </a:pPr>
            <a:r>
              <a:rPr lang="en-US" sz="5350" b="1" dirty="0">
                <a:solidFill>
                  <a:srgbClr val="233939"/>
                </a:solidFill>
                <a:latin typeface="Syne Bold" pitchFamily="34" charset="0"/>
                <a:ea typeface="Syne Bold" pitchFamily="34" charset="-122"/>
                <a:cs typeface="Syne Bold" pitchFamily="34" charset="-120"/>
              </a:rPr>
              <a:t>Challenges and Limitations</a:t>
            </a:r>
            <a:endParaRPr lang="en-US" sz="5350" dirty="0"/>
          </a:p>
        </p:txBody>
      </p:sp>
      <p:sp>
        <p:nvSpPr>
          <p:cNvPr id="4" name="Shape 2"/>
          <p:cNvSpPr/>
          <p:nvPr/>
        </p:nvSpPr>
        <p:spPr>
          <a:xfrm>
            <a:off x="793790" y="2704743"/>
            <a:ext cx="6422231" cy="2141815"/>
          </a:xfrm>
          <a:prstGeom prst="roundRect">
            <a:avLst>
              <a:gd name="adj" fmla="val 5123"/>
            </a:avLst>
          </a:prstGeom>
          <a:solidFill>
            <a:srgbClr val="FFFDE6"/>
          </a:solidFill>
          <a:ln w="22860">
            <a:solidFill>
              <a:srgbClr val="C3D4CC"/>
            </a:solidFill>
            <a:prstDash val="solid"/>
          </a:ln>
        </p:spPr>
        <p:txBody>
          <a:bodyPr/>
          <a:lstStyle/>
          <a:p>
            <a:endParaRPr lang="en-US"/>
          </a:p>
        </p:txBody>
      </p:sp>
      <p:sp>
        <p:nvSpPr>
          <p:cNvPr id="5" name="Shape 3"/>
          <p:cNvSpPr/>
          <p:nvPr/>
        </p:nvSpPr>
        <p:spPr>
          <a:xfrm>
            <a:off x="770930" y="2704743"/>
            <a:ext cx="91440" cy="2141815"/>
          </a:xfrm>
          <a:prstGeom prst="roundRect">
            <a:avLst>
              <a:gd name="adj" fmla="val 91163"/>
            </a:avLst>
          </a:prstGeom>
          <a:solidFill>
            <a:srgbClr val="224435"/>
          </a:solidFill>
          <a:ln/>
        </p:spPr>
        <p:txBody>
          <a:bodyPr/>
          <a:lstStyle/>
          <a:p>
            <a:endParaRPr lang="en-US"/>
          </a:p>
        </p:txBody>
      </p:sp>
      <p:sp>
        <p:nvSpPr>
          <p:cNvPr id="6" name="Text 4"/>
          <p:cNvSpPr/>
          <p:nvPr/>
        </p:nvSpPr>
        <p:spPr>
          <a:xfrm>
            <a:off x="1083588" y="2925961"/>
            <a:ext cx="3221355" cy="310158"/>
          </a:xfrm>
          <a:prstGeom prst="rect">
            <a:avLst/>
          </a:prstGeom>
          <a:noFill/>
          <a:ln/>
        </p:spPr>
        <p:txBody>
          <a:bodyPr wrap="none" lIns="0" tIns="0" rIns="0" bIns="0" rtlCol="0" anchor="t"/>
          <a:lstStyle/>
          <a:p>
            <a:pPr marL="0" indent="0" algn="l">
              <a:lnSpc>
                <a:spcPts val="2400"/>
              </a:lnSpc>
              <a:buNone/>
            </a:pPr>
            <a:r>
              <a:rPr lang="en-US" sz="1950" b="1" dirty="0">
                <a:solidFill>
                  <a:srgbClr val="3B4E4E"/>
                </a:solidFill>
                <a:latin typeface="Syne Bold" pitchFamily="34" charset="0"/>
                <a:ea typeface="Syne Bold" pitchFamily="34" charset="-122"/>
                <a:cs typeface="Syne Bold" pitchFamily="34" charset="-120"/>
              </a:rPr>
              <a:t>High Cost &amp; Complexity</a:t>
            </a:r>
            <a:endParaRPr lang="en-US" sz="1950" dirty="0"/>
          </a:p>
        </p:txBody>
      </p:sp>
      <p:sp>
        <p:nvSpPr>
          <p:cNvPr id="7" name="Text 5"/>
          <p:cNvSpPr/>
          <p:nvPr/>
        </p:nvSpPr>
        <p:spPr>
          <a:xfrm>
            <a:off x="1083588" y="3355181"/>
            <a:ext cx="5911215" cy="1270159"/>
          </a:xfrm>
          <a:prstGeom prst="rect">
            <a:avLst/>
          </a:prstGeom>
          <a:noFill/>
          <a:ln/>
        </p:spPr>
        <p:txBody>
          <a:bodyPr wrap="square" lIns="0" tIns="0" rIns="0" bIns="0" rtlCol="0" anchor="t"/>
          <a:lstStyle/>
          <a:p>
            <a:pPr marL="0" indent="0" algn="l">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Developing sophisticated animatronics and robots requires substantial investment in R&amp;D, materials, and specialized labor, demanding multidisciplinary expertise across engineering, design, and art.</a:t>
            </a:r>
            <a:endParaRPr lang="en-US" sz="1550" dirty="0"/>
          </a:p>
        </p:txBody>
      </p:sp>
      <p:sp>
        <p:nvSpPr>
          <p:cNvPr id="8" name="Shape 6"/>
          <p:cNvSpPr/>
          <p:nvPr/>
        </p:nvSpPr>
        <p:spPr>
          <a:xfrm>
            <a:off x="7414379" y="2704743"/>
            <a:ext cx="6422231" cy="2141815"/>
          </a:xfrm>
          <a:prstGeom prst="roundRect">
            <a:avLst>
              <a:gd name="adj" fmla="val 5123"/>
            </a:avLst>
          </a:prstGeom>
          <a:solidFill>
            <a:srgbClr val="FFFDE6"/>
          </a:solidFill>
          <a:ln w="22860">
            <a:solidFill>
              <a:srgbClr val="C3D4CC"/>
            </a:solidFill>
            <a:prstDash val="solid"/>
          </a:ln>
        </p:spPr>
        <p:txBody>
          <a:bodyPr/>
          <a:lstStyle/>
          <a:p>
            <a:endParaRPr lang="en-US"/>
          </a:p>
        </p:txBody>
      </p:sp>
      <p:sp>
        <p:nvSpPr>
          <p:cNvPr id="9" name="Shape 7"/>
          <p:cNvSpPr/>
          <p:nvPr/>
        </p:nvSpPr>
        <p:spPr>
          <a:xfrm>
            <a:off x="7391519" y="2704743"/>
            <a:ext cx="91440" cy="2141815"/>
          </a:xfrm>
          <a:prstGeom prst="roundRect">
            <a:avLst>
              <a:gd name="adj" fmla="val 91163"/>
            </a:avLst>
          </a:prstGeom>
          <a:solidFill>
            <a:srgbClr val="224435"/>
          </a:solidFill>
          <a:ln/>
        </p:spPr>
        <p:txBody>
          <a:bodyPr/>
          <a:lstStyle/>
          <a:p>
            <a:endParaRPr lang="en-US"/>
          </a:p>
        </p:txBody>
      </p:sp>
      <p:sp>
        <p:nvSpPr>
          <p:cNvPr id="10" name="Text 8"/>
          <p:cNvSpPr/>
          <p:nvPr/>
        </p:nvSpPr>
        <p:spPr>
          <a:xfrm>
            <a:off x="7704177" y="2925961"/>
            <a:ext cx="3492460" cy="310158"/>
          </a:xfrm>
          <a:prstGeom prst="rect">
            <a:avLst/>
          </a:prstGeom>
          <a:noFill/>
          <a:ln/>
        </p:spPr>
        <p:txBody>
          <a:bodyPr wrap="none" lIns="0" tIns="0" rIns="0" bIns="0" rtlCol="0" anchor="t"/>
          <a:lstStyle/>
          <a:p>
            <a:pPr marL="0" indent="0" algn="l">
              <a:lnSpc>
                <a:spcPts val="2400"/>
              </a:lnSpc>
              <a:buNone/>
            </a:pPr>
            <a:r>
              <a:rPr lang="en-US" sz="1950" b="1" dirty="0">
                <a:solidFill>
                  <a:srgbClr val="3B4E4E"/>
                </a:solidFill>
                <a:latin typeface="Syne Bold" pitchFamily="34" charset="0"/>
                <a:ea typeface="Syne Bold" pitchFamily="34" charset="-122"/>
                <a:cs typeface="Syne Bold" pitchFamily="34" charset="-120"/>
              </a:rPr>
              <a:t>Time-Intensive Processes</a:t>
            </a:r>
            <a:endParaRPr lang="en-US" sz="1950" dirty="0"/>
          </a:p>
        </p:txBody>
      </p:sp>
      <p:sp>
        <p:nvSpPr>
          <p:cNvPr id="11" name="Text 9"/>
          <p:cNvSpPr/>
          <p:nvPr/>
        </p:nvSpPr>
        <p:spPr>
          <a:xfrm>
            <a:off x="7704177" y="3355181"/>
            <a:ext cx="5911215" cy="952619"/>
          </a:xfrm>
          <a:prstGeom prst="rect">
            <a:avLst/>
          </a:prstGeom>
          <a:noFill/>
          <a:ln/>
        </p:spPr>
        <p:txBody>
          <a:bodyPr wrap="square" lIns="0" tIns="0" rIns="0" bIns="0" rtlCol="0" anchor="t"/>
          <a:lstStyle/>
          <a:p>
            <a:pPr marL="0" indent="0" algn="l">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From initial design and sculpting to armature fabrication and intricate programming, the creation of highly detailed animatronics can take months or even years, delaying deployment.</a:t>
            </a:r>
            <a:endParaRPr lang="en-US" sz="1550" dirty="0"/>
          </a:p>
        </p:txBody>
      </p:sp>
      <p:sp>
        <p:nvSpPr>
          <p:cNvPr id="12" name="Shape 10"/>
          <p:cNvSpPr/>
          <p:nvPr/>
        </p:nvSpPr>
        <p:spPr>
          <a:xfrm>
            <a:off x="793790" y="5044916"/>
            <a:ext cx="6422231" cy="2141815"/>
          </a:xfrm>
          <a:prstGeom prst="roundRect">
            <a:avLst>
              <a:gd name="adj" fmla="val 5123"/>
            </a:avLst>
          </a:prstGeom>
          <a:solidFill>
            <a:srgbClr val="FFFDE6"/>
          </a:solidFill>
          <a:ln w="22860">
            <a:solidFill>
              <a:srgbClr val="C3D4CC"/>
            </a:solidFill>
            <a:prstDash val="solid"/>
          </a:ln>
        </p:spPr>
        <p:txBody>
          <a:bodyPr/>
          <a:lstStyle/>
          <a:p>
            <a:endParaRPr lang="en-US"/>
          </a:p>
        </p:txBody>
      </p:sp>
      <p:sp>
        <p:nvSpPr>
          <p:cNvPr id="13" name="Shape 11"/>
          <p:cNvSpPr/>
          <p:nvPr/>
        </p:nvSpPr>
        <p:spPr>
          <a:xfrm>
            <a:off x="770930" y="5044916"/>
            <a:ext cx="91440" cy="2141815"/>
          </a:xfrm>
          <a:prstGeom prst="roundRect">
            <a:avLst>
              <a:gd name="adj" fmla="val 91163"/>
            </a:avLst>
          </a:prstGeom>
          <a:solidFill>
            <a:srgbClr val="224435"/>
          </a:solidFill>
          <a:ln/>
        </p:spPr>
        <p:txBody>
          <a:bodyPr/>
          <a:lstStyle/>
          <a:p>
            <a:endParaRPr lang="en-US"/>
          </a:p>
        </p:txBody>
      </p:sp>
      <p:sp>
        <p:nvSpPr>
          <p:cNvPr id="14" name="Text 12"/>
          <p:cNvSpPr/>
          <p:nvPr/>
        </p:nvSpPr>
        <p:spPr>
          <a:xfrm>
            <a:off x="1083588" y="5266134"/>
            <a:ext cx="4015740" cy="310158"/>
          </a:xfrm>
          <a:prstGeom prst="rect">
            <a:avLst/>
          </a:prstGeom>
          <a:noFill/>
          <a:ln/>
        </p:spPr>
        <p:txBody>
          <a:bodyPr wrap="none" lIns="0" tIns="0" rIns="0" bIns="0" rtlCol="0" anchor="t"/>
          <a:lstStyle/>
          <a:p>
            <a:pPr marL="0" indent="0" algn="l">
              <a:lnSpc>
                <a:spcPts val="2400"/>
              </a:lnSpc>
              <a:buNone/>
            </a:pPr>
            <a:r>
              <a:rPr lang="en-US" sz="1950" b="1" dirty="0">
                <a:solidFill>
                  <a:srgbClr val="3B4E4E"/>
                </a:solidFill>
                <a:latin typeface="Syne Bold" pitchFamily="34" charset="0"/>
                <a:ea typeface="Syne Bold" pitchFamily="34" charset="-122"/>
                <a:cs typeface="Syne Bold" pitchFamily="34" charset="-120"/>
              </a:rPr>
              <a:t>Maintenance &amp; Programming</a:t>
            </a:r>
            <a:endParaRPr lang="en-US" sz="1950" dirty="0"/>
          </a:p>
        </p:txBody>
      </p:sp>
      <p:sp>
        <p:nvSpPr>
          <p:cNvPr id="15" name="Text 13"/>
          <p:cNvSpPr/>
          <p:nvPr/>
        </p:nvSpPr>
        <p:spPr>
          <a:xfrm>
            <a:off x="1083588" y="5695355"/>
            <a:ext cx="5911215" cy="1270159"/>
          </a:xfrm>
          <a:prstGeom prst="rect">
            <a:avLst/>
          </a:prstGeom>
          <a:noFill/>
          <a:ln/>
        </p:spPr>
        <p:txBody>
          <a:bodyPr wrap="square" lIns="0" tIns="0" rIns="0" bIns="0" rtlCol="0" anchor="t"/>
          <a:lstStyle/>
          <a:p>
            <a:pPr marL="0" indent="0" algn="l">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Ongoing maintenance and fine-tuning of complex mechanical and electronic systems require highly skilled technicians, while programming subtle, lifelike movements demands artistic and technical proficiency.</a:t>
            </a:r>
            <a:endParaRPr lang="en-US" sz="1550" dirty="0"/>
          </a:p>
        </p:txBody>
      </p:sp>
      <p:sp>
        <p:nvSpPr>
          <p:cNvPr id="16" name="Shape 14"/>
          <p:cNvSpPr/>
          <p:nvPr/>
        </p:nvSpPr>
        <p:spPr>
          <a:xfrm>
            <a:off x="7414379" y="5044916"/>
            <a:ext cx="6422231" cy="2141815"/>
          </a:xfrm>
          <a:prstGeom prst="roundRect">
            <a:avLst>
              <a:gd name="adj" fmla="val 5123"/>
            </a:avLst>
          </a:prstGeom>
          <a:solidFill>
            <a:srgbClr val="FFFDE6"/>
          </a:solidFill>
          <a:ln w="22860">
            <a:solidFill>
              <a:srgbClr val="C3D4CC"/>
            </a:solidFill>
            <a:prstDash val="solid"/>
          </a:ln>
        </p:spPr>
        <p:txBody>
          <a:bodyPr/>
          <a:lstStyle/>
          <a:p>
            <a:endParaRPr lang="en-US"/>
          </a:p>
        </p:txBody>
      </p:sp>
      <p:sp>
        <p:nvSpPr>
          <p:cNvPr id="17" name="Shape 15"/>
          <p:cNvSpPr/>
          <p:nvPr/>
        </p:nvSpPr>
        <p:spPr>
          <a:xfrm>
            <a:off x="7391519" y="5044916"/>
            <a:ext cx="91440" cy="2141815"/>
          </a:xfrm>
          <a:prstGeom prst="roundRect">
            <a:avLst>
              <a:gd name="adj" fmla="val 91163"/>
            </a:avLst>
          </a:prstGeom>
          <a:solidFill>
            <a:srgbClr val="224435"/>
          </a:solidFill>
          <a:ln/>
        </p:spPr>
        <p:txBody>
          <a:bodyPr/>
          <a:lstStyle/>
          <a:p>
            <a:endParaRPr lang="en-US"/>
          </a:p>
        </p:txBody>
      </p:sp>
      <p:sp>
        <p:nvSpPr>
          <p:cNvPr id="18" name="Text 16"/>
          <p:cNvSpPr/>
          <p:nvPr/>
        </p:nvSpPr>
        <p:spPr>
          <a:xfrm>
            <a:off x="7704177" y="5266134"/>
            <a:ext cx="4104561" cy="310158"/>
          </a:xfrm>
          <a:prstGeom prst="rect">
            <a:avLst/>
          </a:prstGeom>
          <a:noFill/>
          <a:ln/>
        </p:spPr>
        <p:txBody>
          <a:bodyPr wrap="none" lIns="0" tIns="0" rIns="0" bIns="0" rtlCol="0" anchor="t"/>
          <a:lstStyle/>
          <a:p>
            <a:pPr marL="0" indent="0" algn="l">
              <a:lnSpc>
                <a:spcPts val="2400"/>
              </a:lnSpc>
              <a:buNone/>
            </a:pPr>
            <a:r>
              <a:rPr lang="en-US" sz="1950" b="1" dirty="0">
                <a:solidFill>
                  <a:srgbClr val="3B4E4E"/>
                </a:solidFill>
                <a:latin typeface="Syne Bold" pitchFamily="34" charset="0"/>
                <a:ea typeface="Syne Bold" pitchFamily="34" charset="-122"/>
                <a:cs typeface="Syne Bold" pitchFamily="34" charset="-120"/>
              </a:rPr>
              <a:t>Realism vs. Durability &amp; Safety</a:t>
            </a:r>
            <a:endParaRPr lang="en-US" sz="1950" dirty="0"/>
          </a:p>
        </p:txBody>
      </p:sp>
      <p:sp>
        <p:nvSpPr>
          <p:cNvPr id="19" name="Text 17"/>
          <p:cNvSpPr/>
          <p:nvPr/>
        </p:nvSpPr>
        <p:spPr>
          <a:xfrm>
            <a:off x="7704177" y="5695355"/>
            <a:ext cx="5911215" cy="952619"/>
          </a:xfrm>
          <a:prstGeom prst="rect">
            <a:avLst/>
          </a:prstGeom>
          <a:noFill/>
          <a:ln/>
        </p:spPr>
        <p:txBody>
          <a:bodyPr wrap="square" lIns="0" tIns="0" rIns="0" bIns="0" rtlCol="0" anchor="t"/>
          <a:lstStyle/>
          <a:p>
            <a:pPr marL="0" indent="0" algn="l">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Striking a balance between achieving a high degree of realism and ensuring the longevity and safe operation of the figures is a constant challenge, especially in high-traffic environments.</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573405"/>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33939"/>
                </a:solidFill>
                <a:latin typeface="Syne Bold" pitchFamily="34" charset="0"/>
                <a:ea typeface="Syne Bold" pitchFamily="34" charset="-122"/>
                <a:cs typeface="Syne Bold" pitchFamily="34" charset="-120"/>
              </a:rPr>
              <a:t>The Road Ahead</a:t>
            </a:r>
            <a:endParaRPr lang="en-US" sz="1950" dirty="0"/>
          </a:p>
        </p:txBody>
      </p:sp>
      <p:sp>
        <p:nvSpPr>
          <p:cNvPr id="3" name="Text 1"/>
          <p:cNvSpPr/>
          <p:nvPr/>
        </p:nvSpPr>
        <p:spPr>
          <a:xfrm>
            <a:off x="793790" y="1081921"/>
            <a:ext cx="13042821" cy="1711642"/>
          </a:xfrm>
          <a:prstGeom prst="rect">
            <a:avLst/>
          </a:prstGeom>
          <a:noFill/>
          <a:ln/>
        </p:spPr>
        <p:txBody>
          <a:bodyPr wrap="square" lIns="0" tIns="0" rIns="0" bIns="0" rtlCol="0" anchor="t"/>
          <a:lstStyle/>
          <a:p>
            <a:pPr marL="0" indent="0" algn="l">
              <a:lnSpc>
                <a:spcPts val="6700"/>
              </a:lnSpc>
              <a:buNone/>
            </a:pPr>
            <a:r>
              <a:rPr lang="en-US" sz="5350" b="1" dirty="0">
                <a:solidFill>
                  <a:srgbClr val="233939"/>
                </a:solidFill>
                <a:latin typeface="Syne Bold" pitchFamily="34" charset="0"/>
                <a:ea typeface="Syne Bold" pitchFamily="34" charset="-122"/>
                <a:cs typeface="Syne Bold" pitchFamily="34" charset="-120"/>
              </a:rPr>
              <a:t>The Future: Robotics and Animatronics Innovation</a:t>
            </a:r>
            <a:endParaRPr lang="en-US" sz="5350" dirty="0"/>
          </a:p>
        </p:txBody>
      </p:sp>
      <p:sp>
        <p:nvSpPr>
          <p:cNvPr id="4" name="Text 2"/>
          <p:cNvSpPr/>
          <p:nvPr/>
        </p:nvSpPr>
        <p:spPr>
          <a:xfrm>
            <a:off x="2551748" y="3308271"/>
            <a:ext cx="2480905" cy="310158"/>
          </a:xfrm>
          <a:prstGeom prst="rect">
            <a:avLst/>
          </a:prstGeom>
          <a:noFill/>
          <a:ln/>
        </p:spPr>
        <p:txBody>
          <a:bodyPr wrap="none" lIns="0" tIns="0" rIns="0" bIns="0" rtlCol="0" anchor="t"/>
          <a:lstStyle/>
          <a:p>
            <a:pPr marL="0" indent="0" algn="r">
              <a:lnSpc>
                <a:spcPts val="2400"/>
              </a:lnSpc>
              <a:buNone/>
            </a:pPr>
            <a:r>
              <a:rPr lang="en-US" sz="1950" b="1" dirty="0">
                <a:solidFill>
                  <a:srgbClr val="3B4E4E"/>
                </a:solidFill>
                <a:latin typeface="Syne Bold" pitchFamily="34" charset="0"/>
                <a:ea typeface="Syne Bold" pitchFamily="34" charset="-122"/>
                <a:cs typeface="Syne Bold" pitchFamily="34" charset="-120"/>
              </a:rPr>
              <a:t>AI Integration</a:t>
            </a:r>
            <a:endParaRPr lang="en-US" sz="1950" dirty="0"/>
          </a:p>
        </p:txBody>
      </p:sp>
      <p:sp>
        <p:nvSpPr>
          <p:cNvPr id="5" name="Text 3"/>
          <p:cNvSpPr/>
          <p:nvPr/>
        </p:nvSpPr>
        <p:spPr>
          <a:xfrm>
            <a:off x="793790" y="3737491"/>
            <a:ext cx="4238863" cy="1270159"/>
          </a:xfrm>
          <a:prstGeom prst="rect">
            <a:avLst/>
          </a:prstGeom>
          <a:noFill/>
          <a:ln/>
        </p:spPr>
        <p:txBody>
          <a:bodyPr wrap="square" lIns="0" tIns="0" rIns="0" bIns="0" rtlCol="0" anchor="t"/>
          <a:lstStyle/>
          <a:p>
            <a:pPr marL="0" indent="0" algn="r">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AI will enable more autonomous, adaptive behaviors, allowing figures to respond dynamically to their environment and interact more naturally.</a:t>
            </a:r>
            <a:endParaRPr lang="en-US" sz="1550" dirty="0"/>
          </a:p>
        </p:txBody>
      </p:sp>
      <p:pic>
        <p:nvPicPr>
          <p:cNvPr id="6" name="Image 0" descr="preencoded.png"/>
          <p:cNvPicPr>
            <a:picLocks noChangeAspect="1"/>
          </p:cNvPicPr>
          <p:nvPr/>
        </p:nvPicPr>
        <p:blipFill>
          <a:blip r:embed="rId3"/>
          <a:stretch>
            <a:fillRect/>
          </a:stretch>
        </p:blipFill>
        <p:spPr>
          <a:xfrm>
            <a:off x="5032653" y="3091220"/>
            <a:ext cx="4564975" cy="4564975"/>
          </a:xfrm>
          <a:prstGeom prst="rect">
            <a:avLst/>
          </a:prstGeom>
        </p:spPr>
      </p:pic>
      <p:pic>
        <p:nvPicPr>
          <p:cNvPr id="7" name="Image 1" descr="preencoded.png"/>
          <p:cNvPicPr>
            <a:picLocks noChangeAspect="1"/>
          </p:cNvPicPr>
          <p:nvPr/>
        </p:nvPicPr>
        <p:blipFill>
          <a:blip r:embed="rId4"/>
          <a:stretch>
            <a:fillRect/>
          </a:stretch>
        </p:blipFill>
        <p:spPr>
          <a:xfrm>
            <a:off x="6344305" y="4367986"/>
            <a:ext cx="279083" cy="348853"/>
          </a:xfrm>
          <a:prstGeom prst="rect">
            <a:avLst/>
          </a:prstGeom>
        </p:spPr>
      </p:pic>
      <p:sp>
        <p:nvSpPr>
          <p:cNvPr id="8" name="Text 4"/>
          <p:cNvSpPr/>
          <p:nvPr/>
        </p:nvSpPr>
        <p:spPr>
          <a:xfrm>
            <a:off x="9597628" y="3467100"/>
            <a:ext cx="2945130" cy="310158"/>
          </a:xfrm>
          <a:prstGeom prst="rect">
            <a:avLst/>
          </a:prstGeom>
          <a:noFill/>
          <a:ln/>
        </p:spPr>
        <p:txBody>
          <a:bodyPr wrap="none" lIns="0" tIns="0" rIns="0" bIns="0" rtlCol="0" anchor="t"/>
          <a:lstStyle/>
          <a:p>
            <a:pPr marL="0" indent="0" algn="l">
              <a:lnSpc>
                <a:spcPts val="2400"/>
              </a:lnSpc>
              <a:buNone/>
            </a:pPr>
            <a:r>
              <a:rPr lang="en-US" sz="1950" b="1" dirty="0">
                <a:solidFill>
                  <a:srgbClr val="3B4E4E"/>
                </a:solidFill>
                <a:latin typeface="Syne Bold" pitchFamily="34" charset="0"/>
                <a:ea typeface="Syne Bold" pitchFamily="34" charset="-122"/>
                <a:cs typeface="Syne Bold" pitchFamily="34" charset="-120"/>
              </a:rPr>
              <a:t>Lightweight Materials</a:t>
            </a:r>
            <a:endParaRPr lang="en-US" sz="1950" dirty="0"/>
          </a:p>
        </p:txBody>
      </p:sp>
      <p:sp>
        <p:nvSpPr>
          <p:cNvPr id="9" name="Text 5"/>
          <p:cNvSpPr/>
          <p:nvPr/>
        </p:nvSpPr>
        <p:spPr>
          <a:xfrm>
            <a:off x="9597628" y="3896320"/>
            <a:ext cx="4238982" cy="952619"/>
          </a:xfrm>
          <a:prstGeom prst="rect">
            <a:avLst/>
          </a:prstGeom>
          <a:noFill/>
          <a:ln/>
        </p:spPr>
        <p:txBody>
          <a:bodyPr wrap="square" lIns="0" tIns="0" rIns="0" bIns="0" rtlCol="0" anchor="t"/>
          <a:lstStyle/>
          <a:p>
            <a:pPr marL="0" indent="0" algn="l">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Advances in materials, including soft robotics, will lead to more fluid, natural movement and enhanced safety for human interaction.</a:t>
            </a:r>
            <a:endParaRPr lang="en-US" sz="1550" dirty="0"/>
          </a:p>
        </p:txBody>
      </p:sp>
      <p:pic>
        <p:nvPicPr>
          <p:cNvPr id="10" name="Image 2" descr="preencoded.png"/>
          <p:cNvPicPr>
            <a:picLocks noChangeAspect="1"/>
          </p:cNvPicPr>
          <p:nvPr/>
        </p:nvPicPr>
        <p:blipFill>
          <a:blip r:embed="rId5"/>
          <a:stretch>
            <a:fillRect/>
          </a:stretch>
        </p:blipFill>
        <p:spPr>
          <a:xfrm>
            <a:off x="5032653" y="3091220"/>
            <a:ext cx="4564975" cy="4564975"/>
          </a:xfrm>
          <a:prstGeom prst="rect">
            <a:avLst/>
          </a:prstGeom>
        </p:spPr>
      </p:pic>
      <p:pic>
        <p:nvPicPr>
          <p:cNvPr id="11" name="Image 3" descr="preencoded.png"/>
          <p:cNvPicPr>
            <a:picLocks noChangeAspect="1"/>
          </p:cNvPicPr>
          <p:nvPr/>
        </p:nvPicPr>
        <p:blipFill>
          <a:blip r:embed="rId6"/>
          <a:stretch>
            <a:fillRect/>
          </a:stretch>
        </p:blipFill>
        <p:spPr>
          <a:xfrm>
            <a:off x="8006655" y="4367986"/>
            <a:ext cx="279083" cy="348853"/>
          </a:xfrm>
          <a:prstGeom prst="rect">
            <a:avLst/>
          </a:prstGeom>
        </p:spPr>
      </p:pic>
      <p:sp>
        <p:nvSpPr>
          <p:cNvPr id="12" name="Text 6"/>
          <p:cNvSpPr/>
          <p:nvPr/>
        </p:nvSpPr>
        <p:spPr>
          <a:xfrm>
            <a:off x="9597628" y="5739646"/>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B4E4E"/>
                </a:solidFill>
                <a:latin typeface="Syne Bold" pitchFamily="34" charset="0"/>
                <a:ea typeface="Syne Bold" pitchFamily="34" charset="-122"/>
                <a:cs typeface="Syne Bold" pitchFamily="34" charset="-120"/>
              </a:rPr>
              <a:t>VR/AR Blending</a:t>
            </a:r>
            <a:endParaRPr lang="en-US" sz="1950" dirty="0"/>
          </a:p>
        </p:txBody>
      </p:sp>
      <p:sp>
        <p:nvSpPr>
          <p:cNvPr id="13" name="Text 7"/>
          <p:cNvSpPr/>
          <p:nvPr/>
        </p:nvSpPr>
        <p:spPr>
          <a:xfrm>
            <a:off x="9597628" y="6168866"/>
            <a:ext cx="4238982" cy="1270159"/>
          </a:xfrm>
          <a:prstGeom prst="rect">
            <a:avLst/>
          </a:prstGeom>
          <a:noFill/>
          <a:ln/>
        </p:spPr>
        <p:txBody>
          <a:bodyPr wrap="square" lIns="0" tIns="0" rIns="0" bIns="0" rtlCol="0" anchor="t"/>
          <a:lstStyle/>
          <a:p>
            <a:pPr marL="0" indent="0" algn="l">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Combining virtual and augmented reality with physical animatronics will create hybrid experiences, blurring the lines between digital and physical worlds.</a:t>
            </a:r>
            <a:endParaRPr lang="en-US" sz="1550" dirty="0"/>
          </a:p>
        </p:txBody>
      </p:sp>
      <p:pic>
        <p:nvPicPr>
          <p:cNvPr id="14" name="Image 4" descr="preencoded.png"/>
          <p:cNvPicPr>
            <a:picLocks noChangeAspect="1"/>
          </p:cNvPicPr>
          <p:nvPr/>
        </p:nvPicPr>
        <p:blipFill>
          <a:blip r:embed="rId7"/>
          <a:stretch>
            <a:fillRect/>
          </a:stretch>
        </p:blipFill>
        <p:spPr>
          <a:xfrm>
            <a:off x="5032653" y="3091220"/>
            <a:ext cx="4564975" cy="4564975"/>
          </a:xfrm>
          <a:prstGeom prst="rect">
            <a:avLst/>
          </a:prstGeom>
        </p:spPr>
      </p:pic>
      <p:pic>
        <p:nvPicPr>
          <p:cNvPr id="15" name="Image 5" descr="preencoded.png"/>
          <p:cNvPicPr>
            <a:picLocks noChangeAspect="1"/>
          </p:cNvPicPr>
          <p:nvPr/>
        </p:nvPicPr>
        <p:blipFill>
          <a:blip r:embed="rId8"/>
          <a:stretch>
            <a:fillRect/>
          </a:stretch>
        </p:blipFill>
        <p:spPr>
          <a:xfrm>
            <a:off x="8006655" y="6030337"/>
            <a:ext cx="279083" cy="348853"/>
          </a:xfrm>
          <a:prstGeom prst="rect">
            <a:avLst/>
          </a:prstGeom>
        </p:spPr>
      </p:pic>
      <p:sp>
        <p:nvSpPr>
          <p:cNvPr id="16" name="Text 8"/>
          <p:cNvSpPr/>
          <p:nvPr/>
        </p:nvSpPr>
        <p:spPr>
          <a:xfrm>
            <a:off x="2551748" y="5739646"/>
            <a:ext cx="2480905" cy="310158"/>
          </a:xfrm>
          <a:prstGeom prst="rect">
            <a:avLst/>
          </a:prstGeom>
          <a:noFill/>
          <a:ln/>
        </p:spPr>
        <p:txBody>
          <a:bodyPr wrap="none" lIns="0" tIns="0" rIns="0" bIns="0" rtlCol="0" anchor="t"/>
          <a:lstStyle/>
          <a:p>
            <a:pPr marL="0" indent="0" algn="r">
              <a:lnSpc>
                <a:spcPts val="2400"/>
              </a:lnSpc>
              <a:buNone/>
            </a:pPr>
            <a:r>
              <a:rPr lang="en-US" sz="1950" b="1" dirty="0">
                <a:solidFill>
                  <a:srgbClr val="3B4E4E"/>
                </a:solidFill>
                <a:latin typeface="Syne Bold" pitchFamily="34" charset="0"/>
                <a:ea typeface="Syne Bold" pitchFamily="34" charset="-122"/>
                <a:cs typeface="Syne Bold" pitchFamily="34" charset="-120"/>
              </a:rPr>
              <a:t>Expanding Roles</a:t>
            </a:r>
            <a:endParaRPr lang="en-US" sz="1950" dirty="0"/>
          </a:p>
        </p:txBody>
      </p:sp>
      <p:sp>
        <p:nvSpPr>
          <p:cNvPr id="17" name="Text 9"/>
          <p:cNvSpPr/>
          <p:nvPr/>
        </p:nvSpPr>
        <p:spPr>
          <a:xfrm>
            <a:off x="793790" y="6168866"/>
            <a:ext cx="4238863" cy="1270159"/>
          </a:xfrm>
          <a:prstGeom prst="rect">
            <a:avLst/>
          </a:prstGeom>
          <a:noFill/>
          <a:ln/>
        </p:spPr>
        <p:txBody>
          <a:bodyPr wrap="square" lIns="0" tIns="0" rIns="0" bIns="0" rtlCol="0" anchor="t"/>
          <a:lstStyle/>
          <a:p>
            <a:pPr marL="0" indent="0" algn="r">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Expect to see animatronics and robots play larger roles in education, healthcare (e.g., robotic companions), and advanced interactive storytelling.</a:t>
            </a:r>
            <a:endParaRPr lang="en-US" sz="1550" dirty="0"/>
          </a:p>
        </p:txBody>
      </p:sp>
      <p:pic>
        <p:nvPicPr>
          <p:cNvPr id="18" name="Image 6" descr="preencoded.png"/>
          <p:cNvPicPr>
            <a:picLocks noChangeAspect="1"/>
          </p:cNvPicPr>
          <p:nvPr/>
        </p:nvPicPr>
        <p:blipFill>
          <a:blip r:embed="rId9"/>
          <a:stretch>
            <a:fillRect/>
          </a:stretch>
        </p:blipFill>
        <p:spPr>
          <a:xfrm>
            <a:off x="5032653" y="3091220"/>
            <a:ext cx="4564975" cy="4564975"/>
          </a:xfrm>
          <a:prstGeom prst="rect">
            <a:avLst/>
          </a:prstGeom>
        </p:spPr>
      </p:pic>
      <p:pic>
        <p:nvPicPr>
          <p:cNvPr id="19" name="Image 7" descr="preencoded.png"/>
          <p:cNvPicPr>
            <a:picLocks noChangeAspect="1"/>
          </p:cNvPicPr>
          <p:nvPr/>
        </p:nvPicPr>
        <p:blipFill>
          <a:blip r:embed="rId10"/>
          <a:stretch>
            <a:fillRect/>
          </a:stretch>
        </p:blipFill>
        <p:spPr>
          <a:xfrm>
            <a:off x="6344305" y="6030337"/>
            <a:ext cx="279083" cy="34885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480905"/>
          </a:xfrm>
          <a:prstGeom prst="rect">
            <a:avLst/>
          </a:prstGeom>
        </p:spPr>
      </p:pic>
      <p:sp>
        <p:nvSpPr>
          <p:cNvPr id="3" name="Text 0"/>
          <p:cNvSpPr/>
          <p:nvPr/>
        </p:nvSpPr>
        <p:spPr>
          <a:xfrm>
            <a:off x="4834295" y="3990856"/>
            <a:ext cx="4961811" cy="620078"/>
          </a:xfrm>
          <a:prstGeom prst="rect">
            <a:avLst/>
          </a:prstGeom>
          <a:noFill/>
          <a:ln/>
        </p:spPr>
        <p:txBody>
          <a:bodyPr wrap="none" lIns="0" tIns="0" rIns="0" bIns="0" rtlCol="0" anchor="t"/>
          <a:lstStyle/>
          <a:p>
            <a:pPr marL="0" indent="0" algn="ctr">
              <a:lnSpc>
                <a:spcPts val="4850"/>
              </a:lnSpc>
              <a:buNone/>
            </a:pPr>
            <a:r>
              <a:rPr lang="en-US" sz="3900" b="1" dirty="0">
                <a:solidFill>
                  <a:srgbClr val="233939"/>
                </a:solidFill>
                <a:latin typeface="Syne Bold" pitchFamily="34" charset="0"/>
                <a:ea typeface="Syne Bold" pitchFamily="34" charset="-122"/>
                <a:cs typeface="Syne Bold" pitchFamily="34" charset="-120"/>
              </a:rPr>
              <a:t>Conclusion</a:t>
            </a:r>
            <a:endParaRPr lang="en-US" sz="3900" dirty="0"/>
          </a:p>
        </p:txBody>
      </p:sp>
      <p:sp>
        <p:nvSpPr>
          <p:cNvPr id="4" name="Text 1"/>
          <p:cNvSpPr/>
          <p:nvPr/>
        </p:nvSpPr>
        <p:spPr>
          <a:xfrm>
            <a:off x="793790" y="4908590"/>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Robotics and animatronics stand at the fascinating intersection of art, engineering, and science. From bringing fantastical creatures to life in entertainment to revolutionizing industries and healthcare, these technologies are continually pushing the boundaries of what machines can achieve.</a:t>
            </a:r>
            <a:endParaRPr lang="en-US" sz="1550" dirty="0"/>
          </a:p>
        </p:txBody>
      </p:sp>
      <p:sp>
        <p:nvSpPr>
          <p:cNvPr id="5" name="Text 2"/>
          <p:cNvSpPr/>
          <p:nvPr/>
        </p:nvSpPr>
        <p:spPr>
          <a:xfrm>
            <a:off x="793790" y="5766911"/>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3B4E4E"/>
                </a:solidFill>
                <a:latin typeface="Overpass Light" pitchFamily="34" charset="0"/>
                <a:ea typeface="Overpass Light" pitchFamily="34" charset="-122"/>
                <a:cs typeface="Overpass Light" pitchFamily="34" charset="-120"/>
              </a:rPr>
              <a:t>While challenges remain in cost, complexity, and maintenance, the ongoing integration of AI, advanced materials, and immersive technologies promises an even more dynamic and impactful future, where the line between the physical and digital, and between human and machine, continues to evolve.</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1216</Words>
  <Application>Microsoft Office PowerPoint</Application>
  <PresentationFormat>Custom</PresentationFormat>
  <Paragraphs>92</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Syne Bold</vt:lpstr>
      <vt:lpstr>Arial</vt:lpstr>
      <vt:lpstr>Syne Light</vt:lpstr>
      <vt:lpstr>Overpass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shafi uzzaman</cp:lastModifiedBy>
  <cp:revision>2</cp:revision>
  <dcterms:created xsi:type="dcterms:W3CDTF">2025-09-12T03:20:58Z</dcterms:created>
  <dcterms:modified xsi:type="dcterms:W3CDTF">2025-09-12T03:23:46Z</dcterms:modified>
</cp:coreProperties>
</file>
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Overpass Light" pitchFamily="2" charset="0"/>
      <p:regular r:id="rId12"/>
      <p: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8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07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01297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Introduction to Cybersecurity: Protecting Our Digital World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7657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 an increasingly interconnected world, understanding cybersecurity is not just a technical necessity—it's a fundamental life skill. This presentation will guide you through the essentials of protecting our digital lives, from individual devices to global networks.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3581"/>
            <a:ext cx="106563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Why Cybersecurity Matters Today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459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30906" y="3223855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Expanding Digital Footprint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4068604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With over 6 billion internet users projected for 2025, our collective attack surface is growing exponentially, making more targets available to malicious actors.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31459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73008" y="3223855"/>
            <a:ext cx="3351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Economic Imperative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73008" y="3714274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Cyberattacks are estimated to cost the global economy over $8 trillion annually by 2024, impacting businesses of all sizes and critical infrastructure.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1459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15111" y="3223855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Universal Vulnerability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4068604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No one is immune. Every individual, organization, and government is a potential target, highlighting the need for robust defenses.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615" y="425529"/>
            <a:ext cx="4952286" cy="4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is Cybersecurity?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1615" y="1280279"/>
            <a:ext cx="65848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Cybersecurity is the comprehensive practice of defending computer systems, networks, and data from digital attacks. It's a continuous effort to ensure the safety and reliability of our digital interactions.</a:t>
            </a:r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7CF517-D842-AB52-8DB8-45158AB68B81}"/>
              </a:ext>
            </a:extLst>
          </p:cNvPr>
          <p:cNvGrpSpPr/>
          <p:nvPr/>
        </p:nvGrpSpPr>
        <p:grpSpPr>
          <a:xfrm>
            <a:off x="513938" y="2184433"/>
            <a:ext cx="6584871" cy="1587579"/>
            <a:chOff x="7511534" y="1315164"/>
            <a:chExt cx="6584871" cy="1587579"/>
          </a:xfrm>
        </p:grpSpPr>
        <p:sp>
          <p:nvSpPr>
            <p:cNvPr id="5" name="Shape 2"/>
            <p:cNvSpPr/>
            <p:nvPr/>
          </p:nvSpPr>
          <p:spPr>
            <a:xfrm>
              <a:off x="7511534" y="1315164"/>
              <a:ext cx="6584871" cy="1587579"/>
            </a:xfrm>
            <a:prstGeom prst="roundRect">
              <a:avLst>
                <a:gd name="adj" fmla="val 4094"/>
              </a:avLst>
            </a:prstGeom>
            <a:solidFill>
              <a:srgbClr val="DDEEE6"/>
            </a:solidFill>
            <a:ln w="7620">
              <a:solidFill>
                <a:srgbClr val="C3D4C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3"/>
            <p:cNvSpPr/>
            <p:nvPr/>
          </p:nvSpPr>
          <p:spPr>
            <a:xfrm>
              <a:off x="7673816" y="1477447"/>
              <a:ext cx="464225" cy="464225"/>
            </a:xfrm>
            <a:prstGeom prst="roundRect">
              <a:avLst>
                <a:gd name="adj" fmla="val 19695375"/>
              </a:avLst>
            </a:prstGeom>
            <a:solidFill>
              <a:srgbClr val="224435"/>
            </a:solidFill>
            <a:ln/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01451" y="1579007"/>
              <a:ext cx="208836" cy="26110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7673816" y="2096333"/>
              <a:ext cx="1934289" cy="2418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500" b="1" dirty="0">
                  <a:solidFill>
                    <a:srgbClr val="3B4E4E"/>
                  </a:solidFill>
                  <a:latin typeface="Syne Bold" pitchFamily="34" charset="0"/>
                  <a:ea typeface="Syne Bold" pitchFamily="34" charset="-122"/>
                  <a:cs typeface="Syne Bold" pitchFamily="34" charset="-120"/>
                </a:rPr>
                <a:t>People</a:t>
              </a:r>
              <a:endParaRPr lang="en-US" sz="15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7673816" y="2492812"/>
              <a:ext cx="6260306" cy="247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sz="1200" dirty="0">
                  <a:solidFill>
                    <a:srgbClr val="3B4E4E"/>
                  </a:solidFill>
                  <a:latin typeface="Overpass Light" pitchFamily="34" charset="0"/>
                  <a:ea typeface="Overpass Light" pitchFamily="34" charset="-122"/>
                  <a:cs typeface="Overpass Light" pitchFamily="34" charset="-120"/>
                </a:rPr>
                <a:t>Awareness and vigilance are the first line of defense.</a:t>
              </a:r>
              <a:endParaRPr lang="en-US" sz="1200" dirty="0"/>
            </a:p>
          </p:txBody>
        </p:sp>
      </p:grpSp>
      <p:sp>
        <p:nvSpPr>
          <p:cNvPr id="10" name="Shape 6"/>
          <p:cNvSpPr/>
          <p:nvPr/>
        </p:nvSpPr>
        <p:spPr>
          <a:xfrm>
            <a:off x="7531591" y="2171812"/>
            <a:ext cx="6584871" cy="1587579"/>
          </a:xfrm>
          <a:prstGeom prst="roundRect">
            <a:avLst>
              <a:gd name="adj" fmla="val 409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693873" y="2334094"/>
            <a:ext cx="464225" cy="464225"/>
          </a:xfrm>
          <a:prstGeom prst="roundRect">
            <a:avLst>
              <a:gd name="adj" fmla="val 19695375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08" y="2435654"/>
            <a:ext cx="208836" cy="2611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93873" y="2952981"/>
            <a:ext cx="1934289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Processes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7693873" y="3349459"/>
            <a:ext cx="626030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Defined policies and procedures guide secure operations.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29072" y="3933216"/>
            <a:ext cx="6584871" cy="1587579"/>
          </a:xfrm>
          <a:prstGeom prst="roundRect">
            <a:avLst>
              <a:gd name="adj" fmla="val 4094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691354" y="4095498"/>
            <a:ext cx="464225" cy="464225"/>
          </a:xfrm>
          <a:prstGeom prst="roundRect">
            <a:avLst>
              <a:gd name="adj" fmla="val 19695375"/>
            </a:avLst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989" y="4197058"/>
            <a:ext cx="208836" cy="2611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91354" y="4714385"/>
            <a:ext cx="1934289" cy="24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Technology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4691354" y="5110863"/>
            <a:ext cx="626030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Tools and software provide protective barriers.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1614" y="6698442"/>
            <a:ext cx="658487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primary goal is to prevent unauthorized access, data theft, damage, and disruption, maintaining the integrity and availability of information.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453" y="601385"/>
            <a:ext cx="13099494" cy="1367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Cyber Threat Landscape: Common Attack Types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5453" y="2405896"/>
            <a:ext cx="6440329" cy="2677239"/>
          </a:xfrm>
          <a:prstGeom prst="roundRect">
            <a:avLst>
              <a:gd name="adj" fmla="val 3431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5933" y="2436376"/>
            <a:ext cx="6379369" cy="656153"/>
          </a:xfrm>
          <a:prstGeom prst="roundRect">
            <a:avLst>
              <a:gd name="adj" fmla="val 8426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549" y="2555558"/>
            <a:ext cx="328017" cy="4100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4651" y="3311247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Malware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14651" y="3784163"/>
            <a:ext cx="5941933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Viruses, worms, and ransomware designed to damage or hijack computer systems.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4499" y="2405896"/>
            <a:ext cx="6440448" cy="2677239"/>
          </a:xfrm>
          <a:prstGeom prst="roundRect">
            <a:avLst>
              <a:gd name="adj" fmla="val 3431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54979" y="2436376"/>
            <a:ext cx="6379488" cy="656153"/>
          </a:xfrm>
          <a:prstGeom prst="roundRect">
            <a:avLst>
              <a:gd name="adj" fmla="val 8426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0715" y="2555558"/>
            <a:ext cx="328017" cy="4100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3697" y="3311247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Phishing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73697" y="3784163"/>
            <a:ext cx="5942052" cy="1049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Deceptive communications, often emails, used to trick individuals into revealing sensitive information or installing malicious software.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65453" y="5301853"/>
            <a:ext cx="6440329" cy="2327315"/>
          </a:xfrm>
          <a:prstGeom prst="roundRect">
            <a:avLst>
              <a:gd name="adj" fmla="val 3947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95933" y="5332333"/>
            <a:ext cx="6379369" cy="656153"/>
          </a:xfrm>
          <a:prstGeom prst="roundRect">
            <a:avLst>
              <a:gd name="adj" fmla="val 8426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549" y="5451515"/>
            <a:ext cx="328017" cy="4100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14651" y="6207204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Hacking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1014651" y="6680121"/>
            <a:ext cx="5941933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Unauthorized access to computer systems or networks by exploiting vulnerabilities.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4499" y="5301853"/>
            <a:ext cx="6440448" cy="2327315"/>
          </a:xfrm>
          <a:prstGeom prst="roundRect">
            <a:avLst>
              <a:gd name="adj" fmla="val 3947"/>
            </a:avLst>
          </a:prstGeom>
          <a:solidFill>
            <a:srgbClr val="FFFDE6"/>
          </a:solidFill>
          <a:ln w="30480">
            <a:solidFill>
              <a:srgbClr val="C3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454979" y="5332333"/>
            <a:ext cx="6379488" cy="656153"/>
          </a:xfrm>
          <a:prstGeom prst="roundRect">
            <a:avLst>
              <a:gd name="adj" fmla="val 8426"/>
            </a:avLst>
          </a:prstGeom>
          <a:solidFill>
            <a:srgbClr val="DDEEE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0715" y="5451515"/>
            <a:ext cx="328017" cy="4100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73697" y="6207204"/>
            <a:ext cx="2752844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Social Engineering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73697" y="6680121"/>
            <a:ext cx="5942052" cy="69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Manipulating individuals to perform actions or divulge confidential information.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590" y="416004"/>
            <a:ext cx="9238774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Real-World Impact: Notable Cyber Incidents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9590" y="1266944"/>
            <a:ext cx="2836307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Marriott Data Breach (2018)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29590" y="1654612"/>
            <a:ext cx="6601063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Over 500 million guest records exposed</a:t>
            </a: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leading to significant reputational damage and financial penalties. This incident highlighted the far-reaching consequences of supply chain vulnerabilities.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9590" y="2289929"/>
            <a:ext cx="4333518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Critical Infrastructure Ransomware (2023)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29590" y="2677597"/>
            <a:ext cx="6601063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 widespread ransomware attack caused extensive service outages across critical infrastructure, disrupting essential services and demonstrating the impact on public life.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434" y="1503402"/>
            <a:ext cx="5954633" cy="53519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9590" y="3582353"/>
            <a:ext cx="2118955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224435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Global Identity Theft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9590" y="3970021"/>
            <a:ext cx="6601063" cy="48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Millions worldwide fall victim to identity theft and financial fraud annually, resulting in lost savings, damaged credit, and prolonged personal distress.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88283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Important Cybersecurity Principles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197418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Confidentiality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Protecting sensitive information from unauthorized access and disclosure.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62" y="3665458"/>
            <a:ext cx="318968" cy="3986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Integrity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597628" y="3351967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Ensuring data is accurate, consistent, and free from unauthorized modification.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713" y="3665458"/>
            <a:ext cx="318968" cy="39862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7628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Availability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597628" y="5804535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Guaranteeing authorized users can access systems and data when needed.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6713" y="5327809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2197418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Accountability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Tracking actions to ensure responsibility for security events.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362" y="5327809"/>
            <a:ext cx="318968" cy="398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724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How to Protect Yourself and Your Organization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58428"/>
            <a:ext cx="226814" cy="283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3013472"/>
            <a:ext cx="6407944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93790" y="3187779"/>
            <a:ext cx="34110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Strong Authentication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78198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Use </a:t>
            </a: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unique, complex passwords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and enable </a:t>
            </a: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multi-factor authentication (MFA)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wherever possible for an extra layer of security.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48" y="2658428"/>
            <a:ext cx="226814" cy="28348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28548" y="3013472"/>
            <a:ext cx="6408063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7428548" y="31877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Regular Updates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678198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Keep all </a:t>
            </a: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software, operating systems, and applications updated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patch known vulnerabilities that attackers could exploit.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163741"/>
            <a:ext cx="226814" cy="28348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93790" y="5518785"/>
            <a:ext cx="6407944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793790" y="56930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Security Tools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618351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Deploy </a:t>
            </a: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firewalls, antivirus, and anti-malware software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detect and prevent malicious activity.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48" y="5163741"/>
            <a:ext cx="226814" cy="28348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428548" y="5518785"/>
            <a:ext cx="6408063" cy="30480"/>
          </a:xfrm>
          <a:prstGeom prst="rect">
            <a:avLst/>
          </a:prstGeom>
          <a:solidFill>
            <a:srgbClr val="2244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7428548" y="56930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User Education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6183511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Educate yourself and your team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to recognize and avoid phishing attempts, social engineering tactics, and other common threats.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021" y="432911"/>
            <a:ext cx="7233761" cy="49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Emerging Trends in Cybersecurity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45" y="953166"/>
            <a:ext cx="13528358" cy="738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10974" y="4200868"/>
            <a:ext cx="2799501" cy="732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Cybersecurity Trends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910974" y="5037463"/>
            <a:ext cx="2799501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Key emerging patterns shaping modern defenses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0233925" y="2547209"/>
            <a:ext cx="3229193" cy="73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AI-Powered Detection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233925" y="2925475"/>
            <a:ext cx="3229193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Using machine learning to spot threats faster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95051" y="6199894"/>
            <a:ext cx="2929711" cy="36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Zero Trust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5310" y="6594397"/>
            <a:ext cx="3229193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Verify every user and device continuously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659636" y="1886553"/>
            <a:ext cx="2929711" cy="36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Cloud Security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509896" y="2281056"/>
            <a:ext cx="3229192" cy="585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Protecting data and workloads in cloud environments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843297" y="6678932"/>
            <a:ext cx="3229193" cy="732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International Collaboration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843296" y="7057196"/>
            <a:ext cx="3229193" cy="585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Sharing intel and standards across borders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51021" y="8799076"/>
            <a:ext cx="1352835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cybersecurity aspect is constantly evolving and growing. Staying ahead requires understanding these key trends and adapting our defense strategies accordingly.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7410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Conclusion: Cybersecurity is </a:t>
            </a:r>
            <a:r>
              <a:rPr lang="en-US" sz="4450" b="1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Everyone’s Responsibility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452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Stay Informed: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Cyber threats evolve constantly, so continuous learning and awareness are crucial.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6874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Proactive Measures: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Simple actions, consistently applied, can prevent a vast majority of attacks and protect your digital privacy.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4925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Collective Defense:</a:t>
            </a: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A safer digital future is built through the collective efforts of individuals and organizations.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669</Words>
  <Application>Microsoft Office PowerPoint</Application>
  <PresentationFormat>Custom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Overpass Light</vt:lpstr>
      <vt:lpstr>Syne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shafi uzzaman</cp:lastModifiedBy>
  <cp:revision>2</cp:revision>
  <dcterms:created xsi:type="dcterms:W3CDTF">2025-09-12T02:44:33Z</dcterms:created>
  <dcterms:modified xsi:type="dcterms:W3CDTF">2025-09-12T03:08:52Z</dcterms:modified>
</cp:coreProperties>
</file>